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5" r:id="rId5"/>
    <p:sldMasterId id="2147483696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embeddedFontLst>
    <p:embeddedFont>
      <p:font typeface="Playfair Display Medium"/>
      <p:regular r:id="rId21"/>
      <p:bold r:id="rId22"/>
      <p:italic r:id="rId23"/>
      <p:boldItalic r:id="rId24"/>
    </p:embeddedFont>
    <p:embeddedFont>
      <p:font typeface="Playfair Display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A841FE-AAB1-41F5-979B-3A4A0C8F7844}">
  <a:tblStyle styleId="{03A841FE-AAB1-41F5-979B-3A4A0C8F784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PlayfairDisplayMedium-bold.fntdata"/><Relationship Id="rId21" Type="http://schemas.openxmlformats.org/officeDocument/2006/relationships/font" Target="fonts/PlayfairDisplayMedium-regular.fntdata"/><Relationship Id="rId24" Type="http://schemas.openxmlformats.org/officeDocument/2006/relationships/font" Target="fonts/PlayfairDisplayMedium-boldItalic.fntdata"/><Relationship Id="rId23" Type="http://schemas.openxmlformats.org/officeDocument/2006/relationships/font" Target="fonts/PlayfairDisplayMedium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layfairDisplay-bold.fntdata"/><Relationship Id="rId25" Type="http://schemas.openxmlformats.org/officeDocument/2006/relationships/font" Target="fonts/PlayfairDisplay-regular.fntdata"/><Relationship Id="rId28" Type="http://schemas.openxmlformats.org/officeDocument/2006/relationships/font" Target="fonts/PlayfairDisplay-boldItalic.fntdata"/><Relationship Id="rId27" Type="http://schemas.openxmlformats.org/officeDocument/2006/relationships/font" Target="fonts/PlayfairDisplay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Lato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32" Type="http://schemas.openxmlformats.org/officeDocument/2006/relationships/font" Target="fonts/Lato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6f8e8d0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e6f8e8d0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e6f8e8d0a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e6f8e8d0a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bb1118fdc_3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dbb1118fdc_3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e6f8e8d0a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e6f8e8d0a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dbb1118fd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dbb1118fd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e6f8e8d0a7_0_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e6f8e8d0a7_0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e6f8e8d0a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e6f8e8d0a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e6f8e8d0a7_0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e6f8e8d0a7_0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dbb1118fdc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dbb1118fdc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dbb1118fdc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dbb1118fdc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dbb1118fdc_1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dbb1118fdc_1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dbb1118fdc_1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dbb1118fdc_1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dbb1118fdc_1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dbb1118fdc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">
  <p:cSld name="BLANK_1_1_1_1_8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276075" y="457200"/>
            <a:ext cx="5713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5"/>
          <p:cNvSpPr txBox="1"/>
          <p:nvPr>
            <p:ph idx="2" type="subTitle"/>
          </p:nvPr>
        </p:nvSpPr>
        <p:spPr>
          <a:xfrm>
            <a:off x="4071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3" type="subTitle"/>
          </p:nvPr>
        </p:nvSpPr>
        <p:spPr>
          <a:xfrm>
            <a:off x="27105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4" type="subTitle"/>
          </p:nvPr>
        </p:nvSpPr>
        <p:spPr>
          <a:xfrm>
            <a:off x="501400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5" type="subTitle"/>
          </p:nvPr>
        </p:nvSpPr>
        <p:spPr>
          <a:xfrm>
            <a:off x="7317450" y="1488125"/>
            <a:ext cx="13590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65" name="Google Shape;65;p15"/>
          <p:cNvSpPr txBox="1"/>
          <p:nvPr>
            <p:ph idx="6" type="body"/>
          </p:nvPr>
        </p:nvSpPr>
        <p:spPr>
          <a:xfrm>
            <a:off x="4071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66" name="Google Shape;66;p15"/>
          <p:cNvSpPr txBox="1"/>
          <p:nvPr>
            <p:ph idx="7" type="body"/>
          </p:nvPr>
        </p:nvSpPr>
        <p:spPr>
          <a:xfrm>
            <a:off x="27105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67" name="Google Shape;67;p15"/>
          <p:cNvSpPr txBox="1"/>
          <p:nvPr>
            <p:ph idx="8" type="body"/>
          </p:nvPr>
        </p:nvSpPr>
        <p:spPr>
          <a:xfrm>
            <a:off x="501400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68" name="Google Shape;68;p15"/>
          <p:cNvSpPr txBox="1"/>
          <p:nvPr>
            <p:ph idx="9" type="body"/>
          </p:nvPr>
        </p:nvSpPr>
        <p:spPr>
          <a:xfrm>
            <a:off x="7317450" y="1895400"/>
            <a:ext cx="1422300" cy="75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text boxes with small statement">
  <p:cSld name="BLANK_1_1_1_1_6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5503325" y="524750"/>
            <a:ext cx="3356100" cy="87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2pPr>
            <a:lvl3pPr indent="-3429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sz="1800"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○"/>
              <a:defRPr sz="1800"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■"/>
              <a:defRPr sz="1800"/>
            </a:lvl9pPr>
          </a:lstStyle>
          <a:p/>
        </p:txBody>
      </p:sp>
      <p:sp>
        <p:nvSpPr>
          <p:cNvPr id="71" name="Google Shape;71;p16"/>
          <p:cNvSpPr txBox="1"/>
          <p:nvPr>
            <p:ph type="title"/>
          </p:nvPr>
        </p:nvSpPr>
        <p:spPr>
          <a:xfrm>
            <a:off x="276075" y="457200"/>
            <a:ext cx="50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6"/>
          <p:cNvSpPr txBox="1"/>
          <p:nvPr>
            <p:ph idx="3" type="subTitle"/>
          </p:nvPr>
        </p:nvSpPr>
        <p:spPr>
          <a:xfrm>
            <a:off x="27952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4" type="subTitle"/>
          </p:nvPr>
        </p:nvSpPr>
        <p:spPr>
          <a:xfrm>
            <a:off x="2489940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5" type="subTitle"/>
          </p:nvPr>
        </p:nvSpPr>
        <p:spPr>
          <a:xfrm>
            <a:off x="4695138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6" type="subTitle"/>
          </p:nvPr>
        </p:nvSpPr>
        <p:spPr>
          <a:xfrm>
            <a:off x="6900335" y="2903871"/>
            <a:ext cx="1970100" cy="3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7" type="body"/>
          </p:nvPr>
        </p:nvSpPr>
        <p:spPr>
          <a:xfrm>
            <a:off x="27495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79" name="Google Shape;79;p16"/>
          <p:cNvSpPr txBox="1"/>
          <p:nvPr>
            <p:ph idx="8" type="body"/>
          </p:nvPr>
        </p:nvSpPr>
        <p:spPr>
          <a:xfrm>
            <a:off x="248994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80" name="Google Shape;80;p16"/>
          <p:cNvSpPr txBox="1"/>
          <p:nvPr>
            <p:ph idx="9" type="body"/>
          </p:nvPr>
        </p:nvSpPr>
        <p:spPr>
          <a:xfrm>
            <a:off x="4704930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81" name="Google Shape;81;p16"/>
          <p:cNvSpPr txBox="1"/>
          <p:nvPr>
            <p:ph idx="13" type="body"/>
          </p:nvPr>
        </p:nvSpPr>
        <p:spPr>
          <a:xfrm>
            <a:off x="6900335" y="3206259"/>
            <a:ext cx="1970100" cy="10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82" name="Google Shape;82;p16"/>
          <p:cNvSpPr txBox="1"/>
          <p:nvPr>
            <p:ph idx="14" type="subTitle"/>
          </p:nvPr>
        </p:nvSpPr>
        <p:spPr>
          <a:xfrm>
            <a:off x="27952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15" type="subTitle"/>
          </p:nvPr>
        </p:nvSpPr>
        <p:spPr>
          <a:xfrm>
            <a:off x="248995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16" type="subTitle"/>
          </p:nvPr>
        </p:nvSpPr>
        <p:spPr>
          <a:xfrm>
            <a:off x="4700375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5" name="Google Shape;85;p16"/>
          <p:cNvSpPr txBox="1"/>
          <p:nvPr>
            <p:ph idx="17" type="subTitle"/>
          </p:nvPr>
        </p:nvSpPr>
        <p:spPr>
          <a:xfrm>
            <a:off x="6910800" y="2672823"/>
            <a:ext cx="382500" cy="147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Playfair Display"/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right image and 2 text boxes">
  <p:cSld name="BLANK_1_1_1_1_5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276075" y="457200"/>
            <a:ext cx="6432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7"/>
          <p:cNvSpPr/>
          <p:nvPr>
            <p:ph idx="2" type="pic"/>
          </p:nvPr>
        </p:nvSpPr>
        <p:spPr>
          <a:xfrm>
            <a:off x="6802800" y="0"/>
            <a:ext cx="2341200" cy="1189800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7"/>
          <p:cNvSpPr txBox="1"/>
          <p:nvPr>
            <p:ph idx="1" type="subTitle"/>
          </p:nvPr>
        </p:nvSpPr>
        <p:spPr>
          <a:xfrm>
            <a:off x="4682775" y="2717425"/>
            <a:ext cx="20262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idx="3" type="subTitle"/>
          </p:nvPr>
        </p:nvSpPr>
        <p:spPr>
          <a:xfrm>
            <a:off x="6843453" y="2717425"/>
            <a:ext cx="20301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2" name="Google Shape;92;p17"/>
          <p:cNvSpPr txBox="1"/>
          <p:nvPr>
            <p:ph idx="4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5" type="body"/>
          </p:nvPr>
        </p:nvSpPr>
        <p:spPr>
          <a:xfrm>
            <a:off x="4682775" y="3042765"/>
            <a:ext cx="20262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94" name="Google Shape;94;p17"/>
          <p:cNvSpPr txBox="1"/>
          <p:nvPr>
            <p:ph idx="6" type="body"/>
          </p:nvPr>
        </p:nvSpPr>
        <p:spPr>
          <a:xfrm>
            <a:off x="6843455" y="3042765"/>
            <a:ext cx="2030100" cy="123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peakers info">
  <p:cSld name="BLANK_1_1_1_1_3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5461825" y="850"/>
            <a:ext cx="36822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7" name="Google Shape;97;p18"/>
          <p:cNvSpPr txBox="1"/>
          <p:nvPr>
            <p:ph idx="1" type="subTitle"/>
          </p:nvPr>
        </p:nvSpPr>
        <p:spPr>
          <a:xfrm>
            <a:off x="1987875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8" name="Google Shape;98;p18"/>
          <p:cNvSpPr txBox="1"/>
          <p:nvPr>
            <p:ph idx="2" type="subTitle"/>
          </p:nvPr>
        </p:nvSpPr>
        <p:spPr>
          <a:xfrm>
            <a:off x="1987875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99" name="Google Shape;99;p18"/>
          <p:cNvSpPr/>
          <p:nvPr>
            <p:ph idx="3" type="pic"/>
          </p:nvPr>
        </p:nvSpPr>
        <p:spPr>
          <a:xfrm>
            <a:off x="-5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8"/>
          <p:cNvSpPr/>
          <p:nvPr>
            <p:ph idx="4" type="pic"/>
          </p:nvPr>
        </p:nvSpPr>
        <p:spPr>
          <a:xfrm>
            <a:off x="4527160" y="1424175"/>
            <a:ext cx="1838100" cy="32670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8"/>
          <p:cNvSpPr txBox="1"/>
          <p:nvPr>
            <p:ph idx="5" type="subTitle"/>
          </p:nvPr>
        </p:nvSpPr>
        <p:spPr>
          <a:xfrm>
            <a:off x="6525486" y="1422801"/>
            <a:ext cx="1578300" cy="4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2" name="Google Shape;102;p18"/>
          <p:cNvSpPr txBox="1"/>
          <p:nvPr>
            <p:ph idx="6" type="subTitle"/>
          </p:nvPr>
        </p:nvSpPr>
        <p:spPr>
          <a:xfrm>
            <a:off x="6525486" y="1849116"/>
            <a:ext cx="1547700" cy="322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3" name="Google Shape;103;p18"/>
          <p:cNvSpPr txBox="1"/>
          <p:nvPr>
            <p:ph type="title"/>
          </p:nvPr>
        </p:nvSpPr>
        <p:spPr>
          <a:xfrm>
            <a:off x="276075" y="457200"/>
            <a:ext cx="4248900" cy="7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4" name="Google Shape;104;p18"/>
          <p:cNvSpPr txBox="1"/>
          <p:nvPr>
            <p:ph idx="7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8"/>
          <p:cNvSpPr txBox="1"/>
          <p:nvPr>
            <p:ph idx="8" type="body"/>
          </p:nvPr>
        </p:nvSpPr>
        <p:spPr>
          <a:xfrm>
            <a:off x="1987875" y="3545425"/>
            <a:ext cx="17550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07" name="Google Shape;107;p18"/>
          <p:cNvSpPr txBox="1"/>
          <p:nvPr>
            <p:ph idx="9" type="body"/>
          </p:nvPr>
        </p:nvSpPr>
        <p:spPr>
          <a:xfrm>
            <a:off x="6536675" y="3545425"/>
            <a:ext cx="1699800" cy="82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●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○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layfair Display"/>
              <a:buChar char="■"/>
              <a:defRPr sz="10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eakers">
  <p:cSld name="BLANK_1_1_1_1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>
            <p:ph idx="2" type="pic"/>
          </p:nvPr>
        </p:nvSpPr>
        <p:spPr>
          <a:xfrm>
            <a:off x="4138225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19"/>
          <p:cNvSpPr/>
          <p:nvPr>
            <p:ph idx="3" type="pic"/>
          </p:nvPr>
        </p:nvSpPr>
        <p:spPr>
          <a:xfrm>
            <a:off x="4138225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9"/>
          <p:cNvSpPr/>
          <p:nvPr>
            <p:ph idx="4" type="pic"/>
          </p:nvPr>
        </p:nvSpPr>
        <p:spPr>
          <a:xfrm>
            <a:off x="4138213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2" name="Google Shape;112;p19"/>
          <p:cNvSpPr/>
          <p:nvPr>
            <p:ph idx="5" type="pic"/>
          </p:nvPr>
        </p:nvSpPr>
        <p:spPr>
          <a:xfrm>
            <a:off x="6573252" y="517875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19"/>
          <p:cNvSpPr/>
          <p:nvPr>
            <p:ph idx="6" type="pic"/>
          </p:nvPr>
        </p:nvSpPr>
        <p:spPr>
          <a:xfrm>
            <a:off x="6573252" y="1957188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19"/>
          <p:cNvSpPr/>
          <p:nvPr>
            <p:ph idx="7" type="pic"/>
          </p:nvPr>
        </p:nvSpPr>
        <p:spPr>
          <a:xfrm>
            <a:off x="6573252" y="3403813"/>
            <a:ext cx="1152300" cy="1203600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19"/>
          <p:cNvSpPr txBox="1"/>
          <p:nvPr>
            <p:ph idx="1" type="subTitle"/>
          </p:nvPr>
        </p:nvSpPr>
        <p:spPr>
          <a:xfrm>
            <a:off x="5406561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6" name="Google Shape;116;p19"/>
          <p:cNvSpPr txBox="1"/>
          <p:nvPr>
            <p:ph idx="8" type="subTitle"/>
          </p:nvPr>
        </p:nvSpPr>
        <p:spPr>
          <a:xfrm>
            <a:off x="5406561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7" name="Google Shape;117;p19"/>
          <p:cNvSpPr txBox="1"/>
          <p:nvPr>
            <p:ph idx="9" type="subTitle"/>
          </p:nvPr>
        </p:nvSpPr>
        <p:spPr>
          <a:xfrm>
            <a:off x="5406561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8" name="Google Shape;118;p19"/>
          <p:cNvSpPr txBox="1"/>
          <p:nvPr>
            <p:ph idx="13" type="subTitle"/>
          </p:nvPr>
        </p:nvSpPr>
        <p:spPr>
          <a:xfrm>
            <a:off x="7840736" y="3413650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19" name="Google Shape;119;p19"/>
          <p:cNvSpPr txBox="1"/>
          <p:nvPr>
            <p:ph idx="14" type="subTitle"/>
          </p:nvPr>
        </p:nvSpPr>
        <p:spPr>
          <a:xfrm>
            <a:off x="7840736" y="195147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0" name="Google Shape;120;p19"/>
          <p:cNvSpPr txBox="1"/>
          <p:nvPr>
            <p:ph idx="15" type="subTitle"/>
          </p:nvPr>
        </p:nvSpPr>
        <p:spPr>
          <a:xfrm>
            <a:off x="7840736" y="518225"/>
            <a:ext cx="10191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1" name="Google Shape;121;p19"/>
          <p:cNvSpPr txBox="1"/>
          <p:nvPr>
            <p:ph idx="16" type="subTitle"/>
          </p:nvPr>
        </p:nvSpPr>
        <p:spPr>
          <a:xfrm>
            <a:off x="5406550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22" name="Google Shape;122;p19"/>
          <p:cNvSpPr txBox="1"/>
          <p:nvPr>
            <p:ph idx="17" type="subTitle"/>
          </p:nvPr>
        </p:nvSpPr>
        <p:spPr>
          <a:xfrm>
            <a:off x="7840725" y="1480150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23" name="Google Shape;123;p19"/>
          <p:cNvSpPr txBox="1"/>
          <p:nvPr>
            <p:ph idx="18" type="subTitle"/>
          </p:nvPr>
        </p:nvSpPr>
        <p:spPr>
          <a:xfrm>
            <a:off x="5406550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24" name="Google Shape;124;p19"/>
          <p:cNvSpPr txBox="1"/>
          <p:nvPr>
            <p:ph idx="19" type="subTitle"/>
          </p:nvPr>
        </p:nvSpPr>
        <p:spPr>
          <a:xfrm>
            <a:off x="7840725" y="2923778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25" name="Google Shape;125;p19"/>
          <p:cNvSpPr txBox="1"/>
          <p:nvPr>
            <p:ph idx="20" type="subTitle"/>
          </p:nvPr>
        </p:nvSpPr>
        <p:spPr>
          <a:xfrm>
            <a:off x="5406550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26" name="Google Shape;126;p19"/>
          <p:cNvSpPr txBox="1"/>
          <p:nvPr>
            <p:ph idx="21" type="subTitle"/>
          </p:nvPr>
        </p:nvSpPr>
        <p:spPr>
          <a:xfrm>
            <a:off x="7840725" y="4367403"/>
            <a:ext cx="1019100" cy="241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27" name="Google Shape;127;p19"/>
          <p:cNvSpPr txBox="1"/>
          <p:nvPr>
            <p:ph type="title"/>
          </p:nvPr>
        </p:nvSpPr>
        <p:spPr>
          <a:xfrm>
            <a:off x="276075" y="457200"/>
            <a:ext cx="38001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28" name="Google Shape;128;p19"/>
          <p:cNvSpPr txBox="1"/>
          <p:nvPr>
            <p:ph idx="2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29" name="Google Shape;129;p19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main point">
  <p:cSld name="BLANK_1_1_1_1_1_1_2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2" name="Google Shape;132;p20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20"/>
          <p:cNvSpPr txBox="1"/>
          <p:nvPr>
            <p:ph idx="2" type="body"/>
          </p:nvPr>
        </p:nvSpPr>
        <p:spPr>
          <a:xfrm>
            <a:off x="276075" y="1763425"/>
            <a:ext cx="4342800" cy="71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statement with picture">
  <p:cSld name="BLANK_1_1_1_1_1_1_1_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1182150" y="1765350"/>
            <a:ext cx="6779700" cy="176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37" name="Google Shape;137;p21"/>
          <p:cNvSpPr txBox="1"/>
          <p:nvPr>
            <p:ph idx="2" type="title"/>
          </p:nvPr>
        </p:nvSpPr>
        <p:spPr>
          <a:xfrm>
            <a:off x="1182150" y="4058050"/>
            <a:ext cx="67797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8" name="Google Shape;138;p21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39" name="Google Shape;139;p2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1"/>
          <p:cNvSpPr/>
          <p:nvPr>
            <p:ph idx="3" type="pic"/>
          </p:nvPr>
        </p:nvSpPr>
        <p:spPr>
          <a:xfrm>
            <a:off x="0" y="0"/>
            <a:ext cx="9144000" cy="1079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bg>
      <p:bgPr>
        <a:solidFill>
          <a:schemeClr val="dk2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270983" y="1985025"/>
            <a:ext cx="3342900" cy="273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43" name="Google Shape;143;p22"/>
          <p:cNvSpPr txBox="1"/>
          <p:nvPr>
            <p:ph idx="2" type="title"/>
          </p:nvPr>
        </p:nvSpPr>
        <p:spPr>
          <a:xfrm>
            <a:off x="270983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4" name="Google Shape;144;p22"/>
          <p:cNvSpPr txBox="1"/>
          <p:nvPr>
            <p:ph idx="3" type="title"/>
          </p:nvPr>
        </p:nvSpPr>
        <p:spPr>
          <a:xfrm>
            <a:off x="270983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5" name="Google Shape;145;p22"/>
          <p:cNvSpPr txBox="1"/>
          <p:nvPr>
            <p:ph idx="4" type="title"/>
          </p:nvPr>
        </p:nvSpPr>
        <p:spPr>
          <a:xfrm>
            <a:off x="4858317" y="19850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5" type="title"/>
          </p:nvPr>
        </p:nvSpPr>
        <p:spPr>
          <a:xfrm>
            <a:off x="4858317" y="29228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6" type="title"/>
          </p:nvPr>
        </p:nvSpPr>
        <p:spPr>
          <a:xfrm>
            <a:off x="4858317" y="3860625"/>
            <a:ext cx="3342900" cy="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idx="7"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9" name="Google Shape;149;p22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50" name="Google Shape;150;p22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22"/>
          <p:cNvSpPr txBox="1"/>
          <p:nvPr>
            <p:ph idx="8" type="subTitle"/>
          </p:nvPr>
        </p:nvSpPr>
        <p:spPr>
          <a:xfrm>
            <a:off x="271825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52" name="Google Shape;152;p22"/>
          <p:cNvSpPr txBox="1"/>
          <p:nvPr>
            <p:ph idx="9" type="subTitle"/>
          </p:nvPr>
        </p:nvSpPr>
        <p:spPr>
          <a:xfrm>
            <a:off x="4858700" y="17974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53" name="Google Shape;153;p22"/>
          <p:cNvSpPr txBox="1"/>
          <p:nvPr>
            <p:ph idx="13" type="subTitle"/>
          </p:nvPr>
        </p:nvSpPr>
        <p:spPr>
          <a:xfrm>
            <a:off x="271825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54" name="Google Shape;154;p22"/>
          <p:cNvSpPr txBox="1"/>
          <p:nvPr>
            <p:ph idx="14" type="subTitle"/>
          </p:nvPr>
        </p:nvSpPr>
        <p:spPr>
          <a:xfrm>
            <a:off x="271825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55" name="Google Shape;155;p22"/>
          <p:cNvSpPr txBox="1"/>
          <p:nvPr>
            <p:ph idx="15" type="subTitle"/>
          </p:nvPr>
        </p:nvSpPr>
        <p:spPr>
          <a:xfrm>
            <a:off x="4858700" y="27352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  <p:sp>
        <p:nvSpPr>
          <p:cNvPr id="156" name="Google Shape;156;p22"/>
          <p:cNvSpPr txBox="1"/>
          <p:nvPr>
            <p:ph idx="16" type="subTitle"/>
          </p:nvPr>
        </p:nvSpPr>
        <p:spPr>
          <a:xfrm>
            <a:off x="4858700" y="3673000"/>
            <a:ext cx="1809900" cy="13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Lato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image with right text">
  <p:cSld name="BLANK_1_1_1_1_1_1_1_1_1_1_1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/>
          <p:nvPr>
            <p:ph idx="2" type="pic"/>
          </p:nvPr>
        </p:nvSpPr>
        <p:spPr>
          <a:xfrm>
            <a:off x="0" y="0"/>
            <a:ext cx="43488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9" name="Google Shape;159;p23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60" name="Google Shape;160;p23"/>
          <p:cNvSpPr txBox="1"/>
          <p:nvPr>
            <p:ph type="title"/>
          </p:nvPr>
        </p:nvSpPr>
        <p:spPr>
          <a:xfrm>
            <a:off x="4618950" y="457200"/>
            <a:ext cx="42516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1" name="Google Shape;161;p23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23"/>
          <p:cNvSpPr txBox="1"/>
          <p:nvPr>
            <p:ph idx="3" type="subTitle"/>
          </p:nvPr>
        </p:nvSpPr>
        <p:spPr>
          <a:xfrm>
            <a:off x="4618950" y="2823908"/>
            <a:ext cx="4251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3" name="Google Shape;163;p23"/>
          <p:cNvSpPr txBox="1"/>
          <p:nvPr>
            <p:ph idx="4" type="body"/>
          </p:nvPr>
        </p:nvSpPr>
        <p:spPr>
          <a:xfrm>
            <a:off x="4618950" y="3457500"/>
            <a:ext cx="4251600" cy="9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ight image">
  <p:cSld name="BLANK_1_1_1_1_1_1_1_1_1_1_1_1_1_1_1_1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/>
          <p:nvPr>
            <p:ph idx="2" type="pic"/>
          </p:nvPr>
        </p:nvSpPr>
        <p:spPr>
          <a:xfrm>
            <a:off x="6877724" y="0"/>
            <a:ext cx="2266200" cy="3405000"/>
          </a:xfrm>
          <a:prstGeom prst="rect">
            <a:avLst/>
          </a:prstGeom>
          <a:noFill/>
          <a:ln>
            <a:noFill/>
          </a:ln>
        </p:spPr>
      </p:sp>
      <p:sp>
        <p:nvSpPr>
          <p:cNvPr id="166" name="Google Shape;166;p24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67" name="Google Shape;167;p24"/>
          <p:cNvSpPr txBox="1"/>
          <p:nvPr>
            <p:ph idx="1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168" name="Google Shape;168;p24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 sz="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Lato"/>
                <a:ea typeface="Lato"/>
                <a:cs typeface="Lato"/>
                <a:sym typeface="Lato"/>
              </a:defRPr>
            </a:lvl1pPr>
            <a:lvl2pPr lvl="1"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5"/>
          <p:cNvSpPr txBox="1"/>
          <p:nvPr>
            <p:ph type="title"/>
          </p:nvPr>
        </p:nvSpPr>
        <p:spPr>
          <a:xfrm>
            <a:off x="276075" y="457200"/>
            <a:ext cx="85944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2" name="Google Shape;172;p25"/>
          <p:cNvSpPr txBox="1"/>
          <p:nvPr>
            <p:ph idx="1" type="subTitle"/>
          </p:nvPr>
        </p:nvSpPr>
        <p:spPr>
          <a:xfrm>
            <a:off x="1114250" y="18790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3" name="Google Shape;173;p25"/>
          <p:cNvSpPr txBox="1"/>
          <p:nvPr>
            <p:ph idx="2" type="subTitle"/>
          </p:nvPr>
        </p:nvSpPr>
        <p:spPr>
          <a:xfrm>
            <a:off x="2135350" y="18790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4" name="Google Shape;174;p25"/>
          <p:cNvSpPr txBox="1"/>
          <p:nvPr>
            <p:ph idx="3" type="subTitle"/>
          </p:nvPr>
        </p:nvSpPr>
        <p:spPr>
          <a:xfrm>
            <a:off x="5787475" y="19129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75" name="Google Shape;175;p25"/>
          <p:cNvSpPr txBox="1"/>
          <p:nvPr>
            <p:ph idx="4" type="subTitle"/>
          </p:nvPr>
        </p:nvSpPr>
        <p:spPr>
          <a:xfrm>
            <a:off x="1114250" y="28168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6" name="Google Shape;176;p25"/>
          <p:cNvSpPr txBox="1"/>
          <p:nvPr>
            <p:ph idx="5" type="subTitle"/>
          </p:nvPr>
        </p:nvSpPr>
        <p:spPr>
          <a:xfrm>
            <a:off x="2135350" y="28168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7" name="Google Shape;177;p25"/>
          <p:cNvSpPr txBox="1"/>
          <p:nvPr>
            <p:ph idx="6" type="subTitle"/>
          </p:nvPr>
        </p:nvSpPr>
        <p:spPr>
          <a:xfrm>
            <a:off x="5787475" y="28507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  <p:sp>
        <p:nvSpPr>
          <p:cNvPr id="178" name="Google Shape;178;p25"/>
          <p:cNvSpPr txBox="1"/>
          <p:nvPr>
            <p:ph idx="7" type="subTitle"/>
          </p:nvPr>
        </p:nvSpPr>
        <p:spPr>
          <a:xfrm>
            <a:off x="1114250" y="3754600"/>
            <a:ext cx="918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79" name="Google Shape;179;p25"/>
          <p:cNvSpPr txBox="1"/>
          <p:nvPr>
            <p:ph idx="8" type="subTitle"/>
          </p:nvPr>
        </p:nvSpPr>
        <p:spPr>
          <a:xfrm>
            <a:off x="2135350" y="3754600"/>
            <a:ext cx="29334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9" type="subTitle"/>
          </p:nvPr>
        </p:nvSpPr>
        <p:spPr>
          <a:xfrm>
            <a:off x="5787475" y="3788500"/>
            <a:ext cx="3072600" cy="41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1">
  <p:cSld name="CUSTOM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3" name="Google Shape;183;p26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4" name="Google Shape;184;p26"/>
          <p:cNvSpPr txBox="1"/>
          <p:nvPr>
            <p:ph idx="1" type="subTitle"/>
          </p:nvPr>
        </p:nvSpPr>
        <p:spPr>
          <a:xfrm>
            <a:off x="276075" y="1194000"/>
            <a:ext cx="19902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85" name="Google Shape;185;p26"/>
          <p:cNvSpPr txBox="1"/>
          <p:nvPr>
            <p:ph idx="2" type="subTitle"/>
          </p:nvPr>
        </p:nvSpPr>
        <p:spPr>
          <a:xfrm>
            <a:off x="3074775" y="1194000"/>
            <a:ext cx="4164900" cy="22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86" name="Google Shape;186;p26"/>
          <p:cNvSpPr txBox="1"/>
          <p:nvPr>
            <p:ph idx="3" type="body"/>
          </p:nvPr>
        </p:nvSpPr>
        <p:spPr>
          <a:xfrm>
            <a:off x="30747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87" name="Google Shape;187;p26"/>
          <p:cNvSpPr txBox="1"/>
          <p:nvPr>
            <p:ph idx="4" type="subTitle"/>
          </p:nvPr>
        </p:nvSpPr>
        <p:spPr>
          <a:xfrm>
            <a:off x="30747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8" name="Google Shape;188;p26"/>
          <p:cNvSpPr txBox="1"/>
          <p:nvPr>
            <p:ph idx="5" type="body"/>
          </p:nvPr>
        </p:nvSpPr>
        <p:spPr>
          <a:xfrm>
            <a:off x="48828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89" name="Google Shape;189;p26"/>
          <p:cNvSpPr txBox="1"/>
          <p:nvPr>
            <p:ph idx="6" type="subTitle"/>
          </p:nvPr>
        </p:nvSpPr>
        <p:spPr>
          <a:xfrm>
            <a:off x="48828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0" name="Google Shape;190;p26"/>
          <p:cNvSpPr txBox="1"/>
          <p:nvPr>
            <p:ph idx="7" type="body"/>
          </p:nvPr>
        </p:nvSpPr>
        <p:spPr>
          <a:xfrm>
            <a:off x="6690975" y="1873600"/>
            <a:ext cx="1513500" cy="1152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191" name="Google Shape;191;p26"/>
          <p:cNvSpPr txBox="1"/>
          <p:nvPr>
            <p:ph idx="8" type="subTitle"/>
          </p:nvPr>
        </p:nvSpPr>
        <p:spPr>
          <a:xfrm>
            <a:off x="6690975" y="1637950"/>
            <a:ext cx="15135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2" name="Google Shape;192;p26"/>
          <p:cNvSpPr txBox="1"/>
          <p:nvPr>
            <p:ph idx="9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3" name="Google Shape;193;p26"/>
          <p:cNvSpPr/>
          <p:nvPr>
            <p:ph idx="13" type="pic"/>
          </p:nvPr>
        </p:nvSpPr>
        <p:spPr>
          <a:xfrm>
            <a:off x="-74" y="3991500"/>
            <a:ext cx="2266200" cy="115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2">
  <p:cSld name="CUSTOM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7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6" name="Google Shape;196;p27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1" type="subTitle"/>
          </p:nvPr>
        </p:nvSpPr>
        <p:spPr>
          <a:xfrm>
            <a:off x="276075" y="1194000"/>
            <a:ext cx="4992600" cy="5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 Medium"/>
              <a:buNone/>
              <a:defRPr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9pPr>
          </a:lstStyle>
          <a:p/>
        </p:txBody>
      </p:sp>
      <p:sp>
        <p:nvSpPr>
          <p:cNvPr id="198" name="Google Shape;198;p27"/>
          <p:cNvSpPr txBox="1"/>
          <p:nvPr>
            <p:ph idx="2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99" name="Google Shape;199;p27"/>
          <p:cNvSpPr txBox="1"/>
          <p:nvPr>
            <p:ph idx="3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  <p:sp>
        <p:nvSpPr>
          <p:cNvPr id="200" name="Google Shape;200;p27"/>
          <p:cNvSpPr txBox="1"/>
          <p:nvPr>
            <p:ph idx="4" type="body"/>
          </p:nvPr>
        </p:nvSpPr>
        <p:spPr>
          <a:xfrm>
            <a:off x="2760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01" name="Google Shape;201;p27"/>
          <p:cNvSpPr txBox="1"/>
          <p:nvPr>
            <p:ph idx="5" type="subTitle"/>
          </p:nvPr>
        </p:nvSpPr>
        <p:spPr>
          <a:xfrm>
            <a:off x="2760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2" name="Google Shape;202;p27"/>
          <p:cNvSpPr txBox="1"/>
          <p:nvPr>
            <p:ph idx="6" type="body"/>
          </p:nvPr>
        </p:nvSpPr>
        <p:spPr>
          <a:xfrm>
            <a:off x="30747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03" name="Google Shape;203;p27"/>
          <p:cNvSpPr txBox="1"/>
          <p:nvPr>
            <p:ph idx="7" type="subTitle"/>
          </p:nvPr>
        </p:nvSpPr>
        <p:spPr>
          <a:xfrm>
            <a:off x="30747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4" name="Google Shape;204;p27"/>
          <p:cNvSpPr txBox="1"/>
          <p:nvPr>
            <p:ph idx="8" type="body"/>
          </p:nvPr>
        </p:nvSpPr>
        <p:spPr>
          <a:xfrm>
            <a:off x="5873475" y="4018238"/>
            <a:ext cx="2463300" cy="6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Lato"/>
              <a:buChar char="■"/>
              <a:defRPr sz="1000"/>
            </a:lvl9pPr>
          </a:lstStyle>
          <a:p/>
        </p:txBody>
      </p:sp>
      <p:sp>
        <p:nvSpPr>
          <p:cNvPr id="205" name="Google Shape;205;p27"/>
          <p:cNvSpPr txBox="1"/>
          <p:nvPr>
            <p:ph idx="9" type="subTitle"/>
          </p:nvPr>
        </p:nvSpPr>
        <p:spPr>
          <a:xfrm>
            <a:off x="5873475" y="3759625"/>
            <a:ext cx="2463300" cy="14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06" name="Google Shape;206;p27"/>
          <p:cNvSpPr/>
          <p:nvPr>
            <p:ph idx="13" type="pic"/>
          </p:nvPr>
        </p:nvSpPr>
        <p:spPr>
          <a:xfrm>
            <a:off x="2760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207" name="Google Shape;207;p27"/>
          <p:cNvSpPr/>
          <p:nvPr>
            <p:ph idx="14" type="pic"/>
          </p:nvPr>
        </p:nvSpPr>
        <p:spPr>
          <a:xfrm>
            <a:off x="3074775" y="2076900"/>
            <a:ext cx="2463300" cy="15702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7"/>
          <p:cNvSpPr/>
          <p:nvPr>
            <p:ph idx="15" type="pic"/>
          </p:nvPr>
        </p:nvSpPr>
        <p:spPr>
          <a:xfrm>
            <a:off x="5873475" y="2073688"/>
            <a:ext cx="2463300" cy="1570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display 3">
  <p:cSld name="CUSTOM_1_1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/>
        </p:nvSpPr>
        <p:spPr>
          <a:xfrm>
            <a:off x="8656458" y="4815950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p28"/>
          <p:cNvSpPr txBox="1"/>
          <p:nvPr>
            <p:ph type="title"/>
          </p:nvPr>
        </p:nvSpPr>
        <p:spPr>
          <a:xfrm>
            <a:off x="837250" y="457200"/>
            <a:ext cx="68856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12" name="Google Shape;212;p28"/>
          <p:cNvSpPr txBox="1"/>
          <p:nvPr>
            <p:ph idx="1" type="subTitle"/>
          </p:nvPr>
        </p:nvSpPr>
        <p:spPr>
          <a:xfrm>
            <a:off x="276075" y="520738"/>
            <a:ext cx="336000" cy="226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Playfair Display"/>
              <a:buNone/>
              <a:defRPr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213" name="Google Shape;213;p28"/>
          <p:cNvSpPr txBox="1"/>
          <p:nvPr>
            <p:ph idx="2" type="subTitle"/>
          </p:nvPr>
        </p:nvSpPr>
        <p:spPr>
          <a:xfrm>
            <a:off x="276075" y="4815950"/>
            <a:ext cx="2010000" cy="18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16" name="Google Shape;216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1" name="Google Shape;22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4" name="Google Shape;224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5" name="Google Shape;225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0" name="Google Shape;230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235" name="Google Shape;235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36" name="Google Shape;236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241" name="Google Shape;241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40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6" name="Google Shape;246;p40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7" name="Google Shape;247;p40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8" name="Google Shape;248;p40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49" name="Google Shape;249;p40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0" name="Google Shape;250;p40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3" name="Google Shape;253;p41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4" name="Google Shape;254;p41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57" name="Google Shape;257;p42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8" name="Google Shape;258;p42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9" name="Google Shape;259;p42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0" name="Google Shape;260;p42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3" name="Google Shape;263;p43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4" name="Google Shape;264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65" name="Google Shape;265;p43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6" name="Google Shape;266;p43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7" name="Google Shape;267;p43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8" name="Google Shape;268;p43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1" name="Google Shape;271;p44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2" name="Google Shape;272;p44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3" name="Google Shape;273;p44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4" name="Google Shape;274;p44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275" name="Google Shape;275;p44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6" name="Google Shape;276;p44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7" name="Google Shape;277;p44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8" name="Google Shape;278;p44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1" name="Google Shape;281;p45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4" name="Google Shape;284;p46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46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46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7" name="Google Shape;28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88" name="Google Shape;288;p46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9" name="Google Shape;289;p46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7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2" name="Google Shape;292;p47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93" name="Google Shape;293;p47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94" name="Google Shape;294;p47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5" name="Google Shape;295;p47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p47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8" name="Google Shape;298;p47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9" name="Google Shape;299;p47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00" name="Google Shape;300;p47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9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49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49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49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8" name="Google Shape;308;p49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49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0" name="Google Shape;310;p49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1" name="Google Shape;311;p49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49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49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theme" Target="../theme/theme1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3950" y="3166425"/>
            <a:ext cx="6424800" cy="15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○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■"/>
              <a:defRPr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78750" y="513900"/>
            <a:ext cx="58020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  <p15:guide id="21" pos="174">
          <p15:clr>
            <a:srgbClr val="E46962"/>
          </p15:clr>
        </p15:guide>
        <p15:guide id="22" pos="5588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0"/>
          <p:cNvSpPr txBox="1"/>
          <p:nvPr/>
        </p:nvSpPr>
        <p:spPr>
          <a:xfrm>
            <a:off x="283961" y="3730625"/>
            <a:ext cx="2045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PDF Agents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19" name="Google Shape;319;p50"/>
          <p:cNvSpPr txBox="1"/>
          <p:nvPr/>
        </p:nvSpPr>
        <p:spPr>
          <a:xfrm>
            <a:off x="283961" y="4450025"/>
            <a:ext cx="2045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Trimester 1, 2026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20" name="Google Shape;320;p50"/>
          <p:cNvSpPr txBox="1"/>
          <p:nvPr/>
        </p:nvSpPr>
        <p:spPr>
          <a:xfrm>
            <a:off x="283953" y="4090319"/>
            <a:ext cx="20457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CSC6200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1" name="Google Shape;321;p50"/>
          <p:cNvCxnSpPr/>
          <p:nvPr/>
        </p:nvCxnSpPr>
        <p:spPr>
          <a:xfrm rot="10800000">
            <a:off x="283800" y="3964328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" name="Google Shape;322;p50"/>
          <p:cNvCxnSpPr/>
          <p:nvPr/>
        </p:nvCxnSpPr>
        <p:spPr>
          <a:xfrm rot="10800000">
            <a:off x="283800" y="4324039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50"/>
          <p:cNvCxnSpPr/>
          <p:nvPr/>
        </p:nvCxnSpPr>
        <p:spPr>
          <a:xfrm rot="10800000">
            <a:off x="283800" y="4683725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50"/>
          <p:cNvCxnSpPr/>
          <p:nvPr/>
        </p:nvCxnSpPr>
        <p:spPr>
          <a:xfrm rot="10800000">
            <a:off x="750" y="361488"/>
            <a:ext cx="9102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50"/>
          <p:cNvCxnSpPr/>
          <p:nvPr/>
        </p:nvCxnSpPr>
        <p:spPr>
          <a:xfrm rot="10800000">
            <a:off x="283800" y="3604625"/>
            <a:ext cx="6425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descr="An architectural detail of a modern building." id="326" name="Google Shape;326;p5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61985" r="8587" t="0"/>
          <a:stretch/>
        </p:blipFill>
        <p:spPr>
          <a:xfrm>
            <a:off x="6877050" y="0"/>
            <a:ext cx="2271002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0"/>
          <p:cNvSpPr txBox="1"/>
          <p:nvPr>
            <p:ph idx="4294967295" type="title"/>
          </p:nvPr>
        </p:nvSpPr>
        <p:spPr>
          <a:xfrm>
            <a:off x="278750" y="513900"/>
            <a:ext cx="5802000" cy="15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INSIGHT AI</a:t>
            </a:r>
            <a:endParaRPr/>
          </a:p>
        </p:txBody>
      </p:sp>
      <p:pic>
        <p:nvPicPr>
          <p:cNvPr id="328" name="Google Shape;328;p50"/>
          <p:cNvPicPr preferRelativeResize="0"/>
          <p:nvPr/>
        </p:nvPicPr>
        <p:blipFill rotWithShape="1">
          <a:blip r:embed="rId4">
            <a:alphaModFix/>
          </a:blip>
          <a:srcRect b="0" l="18569" r="52234" t="0"/>
          <a:stretch/>
        </p:blipFill>
        <p:spPr>
          <a:xfrm>
            <a:off x="6877050" y="0"/>
            <a:ext cx="227100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1"/>
          <p:cNvSpPr txBox="1"/>
          <p:nvPr>
            <p:ph idx="5" type="body"/>
          </p:nvPr>
        </p:nvSpPr>
        <p:spPr>
          <a:xfrm>
            <a:off x="2333350" y="3308153"/>
            <a:ext cx="2026200" cy="330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Staff spend hours hunting through folders to find specific information,</a:t>
            </a:r>
            <a:endParaRPr/>
          </a:p>
        </p:txBody>
      </p:sp>
      <p:sp>
        <p:nvSpPr>
          <p:cNvPr id="334" name="Google Shape;334;p51"/>
          <p:cNvSpPr txBox="1"/>
          <p:nvPr>
            <p:ph type="title"/>
          </p:nvPr>
        </p:nvSpPr>
        <p:spPr>
          <a:xfrm>
            <a:off x="304350" y="457200"/>
            <a:ext cx="6432900" cy="36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335" name="Google Shape;335;p51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51"/>
          <p:cNvSpPr txBox="1"/>
          <p:nvPr>
            <p:ph idx="1" type="subTitle"/>
          </p:nvPr>
        </p:nvSpPr>
        <p:spPr>
          <a:xfrm>
            <a:off x="2333350" y="2982813"/>
            <a:ext cx="20262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Slow manual search</a:t>
            </a:r>
            <a:endParaRPr b="1"/>
          </a:p>
        </p:txBody>
      </p:sp>
      <p:sp>
        <p:nvSpPr>
          <p:cNvPr id="337" name="Google Shape;337;p51"/>
          <p:cNvSpPr txBox="1"/>
          <p:nvPr>
            <p:ph idx="3" type="subTitle"/>
          </p:nvPr>
        </p:nvSpPr>
        <p:spPr>
          <a:xfrm>
            <a:off x="4494028" y="2982813"/>
            <a:ext cx="20301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Data risk</a:t>
            </a:r>
            <a:endParaRPr b="1"/>
          </a:p>
        </p:txBody>
      </p:sp>
      <p:sp>
        <p:nvSpPr>
          <p:cNvPr id="338" name="Google Shape;338;p51"/>
          <p:cNvSpPr txBox="1"/>
          <p:nvPr>
            <p:ph idx="6" type="body"/>
          </p:nvPr>
        </p:nvSpPr>
        <p:spPr>
          <a:xfrm>
            <a:off x="4494030" y="3308153"/>
            <a:ext cx="2030100" cy="6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Similar open AI tools like ChatGPT send documents to external servers, and private information can be leaked. </a:t>
            </a:r>
            <a:endParaRPr/>
          </a:p>
        </p:txBody>
      </p:sp>
      <p:cxnSp>
        <p:nvCxnSpPr>
          <p:cNvPr id="339" name="Google Shape;339;p51"/>
          <p:cNvCxnSpPr/>
          <p:nvPr/>
        </p:nvCxnSpPr>
        <p:spPr>
          <a:xfrm>
            <a:off x="2286075" y="2712213"/>
            <a:ext cx="6576600" cy="11100"/>
          </a:xfrm>
          <a:prstGeom prst="straightConnector1">
            <a:avLst/>
          </a:prstGeom>
          <a:noFill/>
          <a:ln cap="flat" cmpd="sng" w="19050">
            <a:solidFill>
              <a:srgbClr val="0F2D5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0" name="Google Shape;340;p51"/>
          <p:cNvSpPr txBox="1"/>
          <p:nvPr>
            <p:ph idx="3" type="subTitle"/>
          </p:nvPr>
        </p:nvSpPr>
        <p:spPr>
          <a:xfrm>
            <a:off x="6737240" y="2982813"/>
            <a:ext cx="2030100" cy="31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No usable insights</a:t>
            </a:r>
            <a:endParaRPr b="1"/>
          </a:p>
        </p:txBody>
      </p:sp>
      <p:sp>
        <p:nvSpPr>
          <p:cNvPr id="341" name="Google Shape;341;p51"/>
          <p:cNvSpPr txBox="1"/>
          <p:nvPr>
            <p:ph idx="6" type="body"/>
          </p:nvPr>
        </p:nvSpPr>
        <p:spPr>
          <a:xfrm>
            <a:off x="6737243" y="3308153"/>
            <a:ext cx="20301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Valuable knowledge buried in PDFs, Word documents and spreadsheets instead of being used for action. </a:t>
            </a:r>
            <a:endParaRPr/>
          </a:p>
        </p:txBody>
      </p:sp>
      <p:sp>
        <p:nvSpPr>
          <p:cNvPr id="342" name="Google Shape;342;p51"/>
          <p:cNvSpPr txBox="1"/>
          <p:nvPr>
            <p:ph idx="1" type="subTitle"/>
          </p:nvPr>
        </p:nvSpPr>
        <p:spPr>
          <a:xfrm>
            <a:off x="287700" y="1263563"/>
            <a:ext cx="5551200" cy="100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Many growing organizations have a large amount of archives stored in </a:t>
            </a:r>
            <a:r>
              <a:rPr lang="en"/>
              <a:t>their</a:t>
            </a:r>
            <a:r>
              <a:rPr lang="en"/>
              <a:t> local drives that cannot be efficiently accessed. One of the main challenges they encounter is being able to obtain significant insights from their local data in a secure way.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2"/>
          <p:cNvSpPr/>
          <p:nvPr/>
        </p:nvSpPr>
        <p:spPr>
          <a:xfrm>
            <a:off x="457200" y="10060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i="0" lang="en" sz="28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Existing Solutions</a:t>
            </a:r>
            <a:endParaRPr i="0" sz="2800" u="none" cap="none" strike="noStrike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48" name="Google Shape;348;p52"/>
          <p:cNvSpPr/>
          <p:nvPr/>
        </p:nvSpPr>
        <p:spPr>
          <a:xfrm>
            <a:off x="457200" y="1069915"/>
            <a:ext cx="8229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None/>
            </a:pPr>
            <a:r>
              <a:rPr i="0" lang="en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Tools like ChatGPT, Gemini, and Microsoft Copilot can query documents</a:t>
            </a: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, </a:t>
            </a:r>
            <a:r>
              <a:rPr i="0" lang="en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but come with s</a:t>
            </a:r>
            <a:r>
              <a:rPr lang="en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ignificant drawbacks that make them impossible to use for companies that value their data.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Calibri"/>
              <a:buNone/>
            </a:pPr>
            <a:r>
              <a:t/>
            </a:r>
            <a:endParaRPr sz="150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52"/>
          <p:cNvSpPr/>
          <p:nvPr/>
        </p:nvSpPr>
        <p:spPr>
          <a:xfrm>
            <a:off x="365760" y="1737360"/>
            <a:ext cx="8412600" cy="53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2"/>
          <p:cNvSpPr/>
          <p:nvPr/>
        </p:nvSpPr>
        <p:spPr>
          <a:xfrm>
            <a:off x="502920" y="1865376"/>
            <a:ext cx="274200" cy="274200"/>
          </a:xfrm>
          <a:prstGeom prst="ellipse">
            <a:avLst/>
          </a:prstGeom>
          <a:solidFill>
            <a:srgbClr val="E05A5A"/>
          </a:solidFill>
          <a:ln cap="flat" cmpd="sng" w="12700">
            <a:solidFill>
              <a:srgbClr val="E0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52"/>
          <p:cNvSpPr/>
          <p:nvPr/>
        </p:nvSpPr>
        <p:spPr>
          <a:xfrm>
            <a:off x="502920" y="1865376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52"/>
          <p:cNvSpPr/>
          <p:nvPr/>
        </p:nvSpPr>
        <p:spPr>
          <a:xfrm>
            <a:off x="896112" y="1783080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i="0" lang="en" sz="13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Works on cloud</a:t>
            </a:r>
            <a:endParaRPr i="0" sz="13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53" name="Google Shape;353;p52"/>
          <p:cNvSpPr/>
          <p:nvPr/>
        </p:nvSpPr>
        <p:spPr>
          <a:xfrm>
            <a:off x="896112" y="2011680"/>
            <a:ext cx="7680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Documents </a:t>
            </a:r>
            <a:r>
              <a:rPr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are uploaded to external servers</a:t>
            </a:r>
            <a:endParaRPr i="0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4" name="Google Shape;354;p52"/>
          <p:cNvSpPr/>
          <p:nvPr/>
        </p:nvSpPr>
        <p:spPr>
          <a:xfrm>
            <a:off x="365760" y="2340864"/>
            <a:ext cx="8412600" cy="5304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52"/>
          <p:cNvSpPr/>
          <p:nvPr/>
        </p:nvSpPr>
        <p:spPr>
          <a:xfrm>
            <a:off x="502920" y="2468880"/>
            <a:ext cx="274200" cy="274200"/>
          </a:xfrm>
          <a:prstGeom prst="ellipse">
            <a:avLst/>
          </a:prstGeom>
          <a:solidFill>
            <a:srgbClr val="E05A5A"/>
          </a:solidFill>
          <a:ln cap="flat" cmpd="sng" w="12700">
            <a:solidFill>
              <a:srgbClr val="E0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2"/>
          <p:cNvSpPr/>
          <p:nvPr/>
        </p:nvSpPr>
        <p:spPr>
          <a:xfrm>
            <a:off x="502920" y="2468880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52"/>
          <p:cNvSpPr/>
          <p:nvPr/>
        </p:nvSpPr>
        <p:spPr>
          <a:xfrm>
            <a:off x="896112" y="2386584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i="0" lang="en" sz="13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Monthly cost or subscription</a:t>
            </a:r>
            <a:endParaRPr i="0" sz="13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58" name="Google Shape;358;p52"/>
          <p:cNvSpPr/>
          <p:nvPr/>
        </p:nvSpPr>
        <p:spPr>
          <a:xfrm>
            <a:off x="896112" y="2615184"/>
            <a:ext cx="7680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 fees for multiple users</a:t>
            </a:r>
            <a:endParaRPr i="0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59" name="Google Shape;359;p52"/>
          <p:cNvSpPr/>
          <p:nvPr/>
        </p:nvSpPr>
        <p:spPr>
          <a:xfrm>
            <a:off x="365760" y="2944368"/>
            <a:ext cx="8412600" cy="53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52"/>
          <p:cNvSpPr/>
          <p:nvPr/>
        </p:nvSpPr>
        <p:spPr>
          <a:xfrm>
            <a:off x="502920" y="3072384"/>
            <a:ext cx="274200" cy="274200"/>
          </a:xfrm>
          <a:prstGeom prst="ellipse">
            <a:avLst/>
          </a:prstGeom>
          <a:solidFill>
            <a:srgbClr val="E05A5A"/>
          </a:solidFill>
          <a:ln cap="flat" cmpd="sng" w="12700">
            <a:solidFill>
              <a:srgbClr val="E0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52"/>
          <p:cNvSpPr/>
          <p:nvPr/>
        </p:nvSpPr>
        <p:spPr>
          <a:xfrm>
            <a:off x="502920" y="3072384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52"/>
          <p:cNvSpPr/>
          <p:nvPr/>
        </p:nvSpPr>
        <p:spPr>
          <a:xfrm>
            <a:off x="896112" y="2990088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i="0" lang="en" sz="13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Low privacy</a:t>
            </a:r>
            <a:endParaRPr i="0" sz="13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63" name="Google Shape;363;p52"/>
          <p:cNvSpPr/>
          <p:nvPr/>
        </p:nvSpPr>
        <p:spPr>
          <a:xfrm>
            <a:off x="896112" y="3218688"/>
            <a:ext cx="7680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is processed and may be stored or used to train external models.</a:t>
            </a:r>
            <a:endParaRPr i="0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4" name="Google Shape;364;p52"/>
          <p:cNvSpPr/>
          <p:nvPr/>
        </p:nvSpPr>
        <p:spPr>
          <a:xfrm>
            <a:off x="365760" y="3547872"/>
            <a:ext cx="8412600" cy="5304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52"/>
          <p:cNvSpPr/>
          <p:nvPr/>
        </p:nvSpPr>
        <p:spPr>
          <a:xfrm>
            <a:off x="502920" y="3675888"/>
            <a:ext cx="274200" cy="274200"/>
          </a:xfrm>
          <a:prstGeom prst="ellipse">
            <a:avLst/>
          </a:prstGeom>
          <a:solidFill>
            <a:srgbClr val="E05A5A"/>
          </a:solidFill>
          <a:ln cap="flat" cmpd="sng" w="12700">
            <a:solidFill>
              <a:srgbClr val="E0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52"/>
          <p:cNvSpPr/>
          <p:nvPr/>
        </p:nvSpPr>
        <p:spPr>
          <a:xfrm>
            <a:off x="502920" y="3675888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52"/>
          <p:cNvSpPr/>
          <p:nvPr/>
        </p:nvSpPr>
        <p:spPr>
          <a:xfrm>
            <a:off x="896112" y="3593592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i="0" lang="en" sz="13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Possible data leaks</a:t>
            </a:r>
            <a:endParaRPr i="0" sz="13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68" name="Google Shape;368;p52"/>
          <p:cNvSpPr/>
          <p:nvPr/>
        </p:nvSpPr>
        <p:spPr>
          <a:xfrm>
            <a:off x="896112" y="3822192"/>
            <a:ext cx="7680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i="0" lang="en" sz="11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Confidential files exposed to third-party infrastructure and breaches.</a:t>
            </a:r>
            <a:endParaRPr i="0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69" name="Google Shape;369;p52"/>
          <p:cNvSpPr/>
          <p:nvPr/>
        </p:nvSpPr>
        <p:spPr>
          <a:xfrm>
            <a:off x="365760" y="4151376"/>
            <a:ext cx="8412600" cy="530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2"/>
          <p:cNvSpPr/>
          <p:nvPr/>
        </p:nvSpPr>
        <p:spPr>
          <a:xfrm>
            <a:off x="502920" y="4279392"/>
            <a:ext cx="274200" cy="274200"/>
          </a:xfrm>
          <a:prstGeom prst="ellipse">
            <a:avLst/>
          </a:prstGeom>
          <a:solidFill>
            <a:srgbClr val="E05A5A"/>
          </a:solidFill>
          <a:ln cap="flat" cmpd="sng" w="12700">
            <a:solidFill>
              <a:srgbClr val="E05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52"/>
          <p:cNvSpPr/>
          <p:nvPr/>
        </p:nvSpPr>
        <p:spPr>
          <a:xfrm>
            <a:off x="502920" y="4279392"/>
            <a:ext cx="274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✕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52"/>
          <p:cNvSpPr/>
          <p:nvPr/>
        </p:nvSpPr>
        <p:spPr>
          <a:xfrm>
            <a:off x="896112" y="4197096"/>
            <a:ext cx="228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i="0" lang="en" sz="1300" u="none" cap="none" strike="noStrike">
                <a:solidFill>
                  <a:srgbClr val="1E293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Not always reliable</a:t>
            </a:r>
            <a:endParaRPr i="0" sz="1300" u="none" cap="none" strike="noStrike">
              <a:solidFill>
                <a:srgbClr val="00000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73" name="Google Shape;373;p52"/>
          <p:cNvSpPr/>
          <p:nvPr/>
        </p:nvSpPr>
        <p:spPr>
          <a:xfrm>
            <a:off x="896112" y="4425696"/>
            <a:ext cx="7680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Hallucinations can happen</a:t>
            </a:r>
            <a:endParaRPr i="0" sz="1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3"/>
          <p:cNvSpPr txBox="1"/>
          <p:nvPr>
            <p:ph idx="12" type="sldNum"/>
          </p:nvPr>
        </p:nvSpPr>
        <p:spPr>
          <a:xfrm>
            <a:off x="8145608" y="4912325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53"/>
          <p:cNvSpPr txBox="1"/>
          <p:nvPr>
            <p:ph type="title"/>
          </p:nvPr>
        </p:nvSpPr>
        <p:spPr>
          <a:xfrm>
            <a:off x="599100" y="915613"/>
            <a:ext cx="42516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solution: INSIGHT AI</a:t>
            </a:r>
            <a:endParaRPr/>
          </a:p>
        </p:txBody>
      </p:sp>
      <p:sp>
        <p:nvSpPr>
          <p:cNvPr id="380" name="Google Shape;380;p53"/>
          <p:cNvSpPr txBox="1"/>
          <p:nvPr>
            <p:ph idx="3" type="subTitle"/>
          </p:nvPr>
        </p:nvSpPr>
        <p:spPr>
          <a:xfrm>
            <a:off x="599100" y="1743650"/>
            <a:ext cx="5782800" cy="77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local AI </a:t>
            </a:r>
            <a:r>
              <a:rPr lang="en"/>
              <a:t>document</a:t>
            </a:r>
            <a:r>
              <a:rPr lang="en"/>
              <a:t> assistant that lets the user query, summarise, and extract insights from its own file, without even leaving its computer. Allowing organisations to easily access and exploit data in real time.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53"/>
          <p:cNvSpPr txBox="1"/>
          <p:nvPr>
            <p:ph idx="3" type="subTitle"/>
          </p:nvPr>
        </p:nvSpPr>
        <p:spPr>
          <a:xfrm>
            <a:off x="599100" y="2684888"/>
            <a:ext cx="5782800" cy="3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Main characteristics:</a:t>
            </a:r>
            <a:r>
              <a:rPr lang="en"/>
              <a:t> 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53"/>
          <p:cNvSpPr txBox="1"/>
          <p:nvPr/>
        </p:nvSpPr>
        <p:spPr>
          <a:xfrm>
            <a:off x="510725" y="3017925"/>
            <a:ext cx="4989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97B"/>
                </a:solidFill>
              </a:rPr>
              <a:t>🔒  </a:t>
            </a:r>
            <a:r>
              <a:rPr b="1" lang="en" sz="1300">
                <a:solidFill>
                  <a:schemeClr val="accent4"/>
                </a:solidFill>
              </a:rPr>
              <a:t>100% Local:</a:t>
            </a:r>
            <a:r>
              <a:rPr lang="en" sz="1300">
                <a:solidFill>
                  <a:schemeClr val="accent4"/>
                </a:solidFill>
              </a:rPr>
              <a:t> no data ever leaves the computer</a:t>
            </a:r>
            <a:r>
              <a:rPr lang="en" sz="1100">
                <a:solidFill>
                  <a:schemeClr val="accent4"/>
                </a:solidFill>
              </a:rPr>
              <a:t> 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83" name="Google Shape;383;p53"/>
          <p:cNvSpPr txBox="1"/>
          <p:nvPr/>
        </p:nvSpPr>
        <p:spPr>
          <a:xfrm>
            <a:off x="510725" y="3402825"/>
            <a:ext cx="4417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97B"/>
                </a:solidFill>
              </a:rPr>
              <a:t>💸 </a:t>
            </a:r>
            <a:r>
              <a:rPr lang="en" sz="1300">
                <a:solidFill>
                  <a:srgbClr val="00897B"/>
                </a:solidFill>
              </a:rPr>
              <a:t> </a:t>
            </a:r>
            <a:r>
              <a:rPr b="1" lang="en" sz="1300">
                <a:solidFill>
                  <a:schemeClr val="accent4"/>
                </a:solidFill>
              </a:rPr>
              <a:t>Zero Cost</a:t>
            </a:r>
            <a:r>
              <a:rPr lang="en" sz="1300">
                <a:solidFill>
                  <a:schemeClr val="accent4"/>
                </a:solidFill>
              </a:rPr>
              <a:t>: all used technologies are open-source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384" name="Google Shape;384;p53"/>
          <p:cNvSpPr txBox="1"/>
          <p:nvPr/>
        </p:nvSpPr>
        <p:spPr>
          <a:xfrm>
            <a:off x="510725" y="3787725"/>
            <a:ext cx="4317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0897B"/>
                </a:solidFill>
              </a:rPr>
              <a:t>📄  </a:t>
            </a:r>
            <a:r>
              <a:rPr b="1" lang="en" sz="1300">
                <a:solidFill>
                  <a:schemeClr val="accent4"/>
                </a:solidFill>
              </a:rPr>
              <a:t>F</a:t>
            </a:r>
            <a:r>
              <a:rPr b="1" lang="en" sz="1300">
                <a:solidFill>
                  <a:schemeClr val="accent4"/>
                </a:solidFill>
              </a:rPr>
              <a:t>ile Variety: </a:t>
            </a:r>
            <a:r>
              <a:rPr lang="en" sz="1300">
                <a:solidFill>
                  <a:schemeClr val="accent4"/>
                </a:solidFill>
              </a:rPr>
              <a:t>supports PDF, Word, and Excel files</a:t>
            </a:r>
            <a:r>
              <a:rPr b="1" lang="en" sz="1100">
                <a:solidFill>
                  <a:schemeClr val="accent4"/>
                </a:solidFill>
              </a:rPr>
              <a:t> </a:t>
            </a:r>
            <a:endParaRPr b="1">
              <a:solidFill>
                <a:schemeClr val="accent4"/>
              </a:solidFill>
            </a:endParaRPr>
          </a:p>
        </p:txBody>
      </p:sp>
      <p:cxnSp>
        <p:nvCxnSpPr>
          <p:cNvPr id="385" name="Google Shape;385;p53"/>
          <p:cNvCxnSpPr/>
          <p:nvPr/>
        </p:nvCxnSpPr>
        <p:spPr>
          <a:xfrm flipH="1" rot="10800000">
            <a:off x="11975" y="440900"/>
            <a:ext cx="9117000" cy="23100"/>
          </a:xfrm>
          <a:prstGeom prst="straightConnector1">
            <a:avLst/>
          </a:prstGeom>
          <a:noFill/>
          <a:ln cap="flat" cmpd="sng" w="19050">
            <a:solidFill>
              <a:srgbClr val="0F2D5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53"/>
          <p:cNvCxnSpPr/>
          <p:nvPr/>
        </p:nvCxnSpPr>
        <p:spPr>
          <a:xfrm>
            <a:off x="8572900" y="-45700"/>
            <a:ext cx="0" cy="5362800"/>
          </a:xfrm>
          <a:prstGeom prst="straightConnector1">
            <a:avLst/>
          </a:prstGeom>
          <a:noFill/>
          <a:ln cap="flat" cmpd="sng" w="19050">
            <a:solidFill>
              <a:srgbClr val="0F2D5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4"/>
          <p:cNvSpPr txBox="1"/>
          <p:nvPr/>
        </p:nvSpPr>
        <p:spPr>
          <a:xfrm>
            <a:off x="3379500" y="515125"/>
            <a:ext cx="2385000" cy="3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C202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it works?</a:t>
            </a:r>
            <a:endParaRPr b="1" sz="2800">
              <a:solidFill>
                <a:srgbClr val="1C2026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92" name="Google Shape;392;p54"/>
          <p:cNvSpPr txBox="1"/>
          <p:nvPr>
            <p:ph idx="4294967295" type="subTitle"/>
          </p:nvPr>
        </p:nvSpPr>
        <p:spPr>
          <a:xfrm>
            <a:off x="2463375" y="1347975"/>
            <a:ext cx="1384800" cy="293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Point to a folder</a:t>
            </a:r>
            <a:endParaRPr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393" name="Google Shape;393;p54"/>
          <p:cNvSpPr txBox="1"/>
          <p:nvPr>
            <p:ph idx="4294967295" type="subTitle"/>
          </p:nvPr>
        </p:nvSpPr>
        <p:spPr>
          <a:xfrm>
            <a:off x="5415525" y="1347975"/>
            <a:ext cx="1567500" cy="293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Index documents</a:t>
            </a:r>
            <a:endParaRPr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394" name="Google Shape;394;p54"/>
          <p:cNvSpPr txBox="1"/>
          <p:nvPr>
            <p:ph idx="4294967295" type="subTitle"/>
          </p:nvPr>
        </p:nvSpPr>
        <p:spPr>
          <a:xfrm>
            <a:off x="2347575" y="1710350"/>
            <a:ext cx="1616400" cy="91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 any folder containing PDF, Word, or Excel files</a:t>
            </a:r>
            <a:endParaRPr/>
          </a:p>
        </p:txBody>
      </p:sp>
      <p:sp>
        <p:nvSpPr>
          <p:cNvPr id="395" name="Google Shape;395;p54"/>
          <p:cNvSpPr txBox="1"/>
          <p:nvPr>
            <p:ph idx="4294967295" type="subTitle"/>
          </p:nvPr>
        </p:nvSpPr>
        <p:spPr>
          <a:xfrm>
            <a:off x="5321475" y="1738400"/>
            <a:ext cx="1755600" cy="8556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model reads, chunks, and embeds the selected files</a:t>
            </a:r>
            <a:endParaRPr/>
          </a:p>
        </p:txBody>
      </p:sp>
      <p:sp>
        <p:nvSpPr>
          <p:cNvPr id="396" name="Google Shape;396;p54"/>
          <p:cNvSpPr txBox="1"/>
          <p:nvPr>
            <p:ph idx="4294967295" type="subTitle"/>
          </p:nvPr>
        </p:nvSpPr>
        <p:spPr>
          <a:xfrm>
            <a:off x="2569425" y="3426513"/>
            <a:ext cx="1466400" cy="783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 naturally, no especial syntax needed</a:t>
            </a:r>
            <a:endParaRPr/>
          </a:p>
        </p:txBody>
      </p:sp>
      <p:sp>
        <p:nvSpPr>
          <p:cNvPr id="397" name="Google Shape;397;p54"/>
          <p:cNvSpPr txBox="1"/>
          <p:nvPr>
            <p:ph idx="4294967295" type="subTitle"/>
          </p:nvPr>
        </p:nvSpPr>
        <p:spPr>
          <a:xfrm>
            <a:off x="5511663" y="3327250"/>
            <a:ext cx="1616400" cy="100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Obtain significant answers, grounded </a:t>
            </a:r>
            <a:r>
              <a:rPr lang="en"/>
              <a:t>only in</a:t>
            </a:r>
            <a:r>
              <a:rPr lang="en"/>
              <a:t> the selected documents</a:t>
            </a:r>
            <a:endParaRPr/>
          </a:p>
        </p:txBody>
      </p:sp>
      <p:cxnSp>
        <p:nvCxnSpPr>
          <p:cNvPr id="398" name="Google Shape;398;p54"/>
          <p:cNvCxnSpPr/>
          <p:nvPr/>
        </p:nvCxnSpPr>
        <p:spPr>
          <a:xfrm>
            <a:off x="4514625" y="1217050"/>
            <a:ext cx="23100" cy="33249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54"/>
          <p:cNvCxnSpPr/>
          <p:nvPr/>
        </p:nvCxnSpPr>
        <p:spPr>
          <a:xfrm flipH="1">
            <a:off x="1857075" y="2836900"/>
            <a:ext cx="5526000" cy="231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0" name="Google Shape;400;p54"/>
          <p:cNvSpPr txBox="1"/>
          <p:nvPr>
            <p:ph idx="4294967295" type="subTitle"/>
          </p:nvPr>
        </p:nvSpPr>
        <p:spPr>
          <a:xfrm>
            <a:off x="2656725" y="3012988"/>
            <a:ext cx="1291800" cy="293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Ask a question</a:t>
            </a:r>
            <a:endParaRPr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401" name="Google Shape;401;p54"/>
          <p:cNvSpPr txBox="1"/>
          <p:nvPr>
            <p:ph idx="4294967295" type="subTitle"/>
          </p:nvPr>
        </p:nvSpPr>
        <p:spPr>
          <a:xfrm>
            <a:off x="5673963" y="3003625"/>
            <a:ext cx="1291800" cy="293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Get an answer</a:t>
            </a:r>
            <a:endParaRPr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402" name="Google Shape;402;p54"/>
          <p:cNvSpPr txBox="1"/>
          <p:nvPr/>
        </p:nvSpPr>
        <p:spPr>
          <a:xfrm>
            <a:off x="1854825" y="1611050"/>
            <a:ext cx="404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1</a:t>
            </a:r>
            <a:endParaRPr/>
          </a:p>
        </p:txBody>
      </p:sp>
      <p:sp>
        <p:nvSpPr>
          <p:cNvPr id="403" name="Google Shape;403;p54"/>
          <p:cNvSpPr txBox="1"/>
          <p:nvPr/>
        </p:nvSpPr>
        <p:spPr>
          <a:xfrm>
            <a:off x="4690563" y="1611050"/>
            <a:ext cx="404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2</a:t>
            </a:r>
            <a:endParaRPr/>
          </a:p>
        </p:txBody>
      </p:sp>
      <p:sp>
        <p:nvSpPr>
          <p:cNvPr id="404" name="Google Shape;404;p54"/>
          <p:cNvSpPr txBox="1"/>
          <p:nvPr/>
        </p:nvSpPr>
        <p:spPr>
          <a:xfrm>
            <a:off x="1854813" y="3102900"/>
            <a:ext cx="404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3</a:t>
            </a:r>
            <a:endParaRPr/>
          </a:p>
        </p:txBody>
      </p:sp>
      <p:sp>
        <p:nvSpPr>
          <p:cNvPr id="405" name="Google Shape;405;p54"/>
          <p:cNvSpPr txBox="1"/>
          <p:nvPr/>
        </p:nvSpPr>
        <p:spPr>
          <a:xfrm>
            <a:off x="4852875" y="3112225"/>
            <a:ext cx="404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4</a:t>
            </a:r>
            <a:endParaRPr/>
          </a:p>
        </p:txBody>
      </p:sp>
      <p:sp>
        <p:nvSpPr>
          <p:cNvPr id="406" name="Google Shape;406;p54"/>
          <p:cNvSpPr txBox="1"/>
          <p:nvPr>
            <p:ph idx="12" type="sldNum"/>
          </p:nvPr>
        </p:nvSpPr>
        <p:spPr>
          <a:xfrm>
            <a:off x="8579400" y="4820825"/>
            <a:ext cx="3360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55"/>
          <p:cNvSpPr/>
          <p:nvPr/>
        </p:nvSpPr>
        <p:spPr>
          <a:xfrm>
            <a:off x="6632250" y="1368750"/>
            <a:ext cx="2223600" cy="3315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12" name="Google Shape;412;p55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Technical Architecture</a:t>
            </a:r>
            <a:endParaRPr/>
          </a:p>
        </p:txBody>
      </p:sp>
      <p:grpSp>
        <p:nvGrpSpPr>
          <p:cNvPr id="413" name="Google Shape;413;p55"/>
          <p:cNvGrpSpPr/>
          <p:nvPr/>
        </p:nvGrpSpPr>
        <p:grpSpPr>
          <a:xfrm>
            <a:off x="284988" y="1802425"/>
            <a:ext cx="8574013" cy="2885627"/>
            <a:chOff x="284988" y="1798100"/>
            <a:chExt cx="8574013" cy="2885627"/>
          </a:xfrm>
        </p:grpSpPr>
        <p:cxnSp>
          <p:nvCxnSpPr>
            <p:cNvPr id="414" name="Google Shape;414;p55"/>
            <p:cNvCxnSpPr/>
            <p:nvPr/>
          </p:nvCxnSpPr>
          <p:spPr>
            <a:xfrm rot="10800000">
              <a:off x="285000" y="4683727"/>
              <a:ext cx="85740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5" name="Google Shape;415;p55"/>
            <p:cNvCxnSpPr/>
            <p:nvPr/>
          </p:nvCxnSpPr>
          <p:spPr>
            <a:xfrm rot="10800000">
              <a:off x="285000" y="3177010"/>
              <a:ext cx="85740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6" name="Google Shape;416;p55"/>
            <p:cNvCxnSpPr/>
            <p:nvPr/>
          </p:nvCxnSpPr>
          <p:spPr>
            <a:xfrm rot="10800000">
              <a:off x="284988" y="2480294"/>
              <a:ext cx="85740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7" name="Google Shape;417;p55"/>
            <p:cNvCxnSpPr/>
            <p:nvPr/>
          </p:nvCxnSpPr>
          <p:spPr>
            <a:xfrm rot="10800000">
              <a:off x="284988" y="1798100"/>
              <a:ext cx="8574000" cy="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18" name="Google Shape;418;p55"/>
          <p:cNvSpPr txBox="1"/>
          <p:nvPr/>
        </p:nvSpPr>
        <p:spPr>
          <a:xfrm>
            <a:off x="286350" y="1465200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Technology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419" name="Google Shape;419;p55"/>
          <p:cNvSpPr txBox="1"/>
          <p:nvPr/>
        </p:nvSpPr>
        <p:spPr>
          <a:xfrm>
            <a:off x="2224651" y="1465188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Indexing Phase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420" name="Google Shape;420;p55"/>
          <p:cNvSpPr txBox="1"/>
          <p:nvPr/>
        </p:nvSpPr>
        <p:spPr>
          <a:xfrm>
            <a:off x="4499220" y="1465188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Technology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421" name="Google Shape;421;p55"/>
          <p:cNvSpPr txBox="1"/>
          <p:nvPr/>
        </p:nvSpPr>
        <p:spPr>
          <a:xfrm>
            <a:off x="6719238" y="1465188"/>
            <a:ext cx="1527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Query Phase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422" name="Google Shape;422;p55"/>
          <p:cNvSpPr txBox="1"/>
          <p:nvPr/>
        </p:nvSpPr>
        <p:spPr>
          <a:xfrm>
            <a:off x="2222075" y="1915625"/>
            <a:ext cx="2008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Load 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documents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t(pypdf / python-docx / openpyxl)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3" name="Google Shape;423;p55"/>
          <p:cNvSpPr txBox="1"/>
          <p:nvPr/>
        </p:nvSpPr>
        <p:spPr>
          <a:xfrm>
            <a:off x="4499225" y="1915625"/>
            <a:ext cx="2010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Streamlit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4" name="Google Shape;424;p55"/>
          <p:cNvSpPr txBox="1"/>
          <p:nvPr/>
        </p:nvSpPr>
        <p:spPr>
          <a:xfrm>
            <a:off x="6719252" y="1915625"/>
            <a:ext cx="2091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User question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Natural language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5" name="Google Shape;425;p55"/>
          <p:cNvSpPr txBox="1"/>
          <p:nvPr/>
        </p:nvSpPr>
        <p:spPr>
          <a:xfrm>
            <a:off x="286350" y="1915602"/>
            <a:ext cx="152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Python</a:t>
            </a:r>
            <a:endParaRPr sz="12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26" name="Google Shape;426;p55"/>
          <p:cNvSpPr txBox="1"/>
          <p:nvPr/>
        </p:nvSpPr>
        <p:spPr>
          <a:xfrm>
            <a:off x="2246608" y="2672443"/>
            <a:ext cx="2008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Chunk text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500 tokens, 50 overlap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27" name="Google Shape;427;p55"/>
          <p:cNvSpPr txBox="1"/>
          <p:nvPr/>
        </p:nvSpPr>
        <p:spPr>
          <a:xfrm>
            <a:off x="310575" y="2672429"/>
            <a:ext cx="152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SentenceSplitter</a:t>
            </a:r>
            <a:endParaRPr sz="12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28" name="Google Shape;428;p55"/>
          <p:cNvSpPr txBox="1"/>
          <p:nvPr/>
        </p:nvSpPr>
        <p:spPr>
          <a:xfrm>
            <a:off x="310575" y="3422745"/>
            <a:ext cx="1527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HuggingFace</a:t>
            </a:r>
            <a:endParaRPr sz="12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29" name="Google Shape;429;p55"/>
          <p:cNvSpPr txBox="1"/>
          <p:nvPr/>
        </p:nvSpPr>
        <p:spPr>
          <a:xfrm>
            <a:off x="2246608" y="3422751"/>
            <a:ext cx="2008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Generate embeddings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Model: BAAI/bge-small-en-v1.5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0" name="Google Shape;430;p55"/>
          <p:cNvSpPr txBox="1"/>
          <p:nvPr/>
        </p:nvSpPr>
        <p:spPr>
          <a:xfrm>
            <a:off x="4522100" y="2672448"/>
            <a:ext cx="2010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HuggingFace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1" name="Google Shape;431;p55"/>
          <p:cNvSpPr txBox="1"/>
          <p:nvPr/>
        </p:nvSpPr>
        <p:spPr>
          <a:xfrm>
            <a:off x="4522100" y="3422775"/>
            <a:ext cx="2010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Chat engine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2" name="Google Shape;432;p55"/>
          <p:cNvSpPr txBox="1"/>
          <p:nvPr/>
        </p:nvSpPr>
        <p:spPr>
          <a:xfrm>
            <a:off x="6742127" y="2672436"/>
            <a:ext cx="2091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Embed question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Same model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33" name="Google Shape;433;p55"/>
          <p:cNvSpPr txBox="1"/>
          <p:nvPr/>
        </p:nvSpPr>
        <p:spPr>
          <a:xfrm>
            <a:off x="6742127" y="3422749"/>
            <a:ext cx="2091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Retrieve top-5 chunks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Vector similarity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34" name="Google Shape;434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0839" y="1471275"/>
            <a:ext cx="203250" cy="20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5500" y="1471275"/>
            <a:ext cx="203250" cy="2032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55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37" name="Google Shape;437;p55"/>
          <p:cNvCxnSpPr/>
          <p:nvPr/>
        </p:nvCxnSpPr>
        <p:spPr>
          <a:xfrm rot="10800000">
            <a:off x="286275" y="3864127"/>
            <a:ext cx="857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8" name="Google Shape;438;p55"/>
          <p:cNvSpPr txBox="1"/>
          <p:nvPr/>
        </p:nvSpPr>
        <p:spPr>
          <a:xfrm>
            <a:off x="311850" y="4173033"/>
            <a:ext cx="1527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LlamaIndex VectorStore</a:t>
            </a:r>
            <a:endParaRPr sz="1200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39" name="Google Shape;439;p55"/>
          <p:cNvSpPr txBox="1"/>
          <p:nvPr/>
        </p:nvSpPr>
        <p:spPr>
          <a:xfrm>
            <a:off x="2247883" y="4173038"/>
            <a:ext cx="20082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Embeddings store to disk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~/INSIGHT_AI_storage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0" name="Google Shape;440;p55"/>
          <p:cNvSpPr txBox="1"/>
          <p:nvPr/>
        </p:nvSpPr>
        <p:spPr>
          <a:xfrm>
            <a:off x="4523375" y="4173063"/>
            <a:ext cx="20100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LLaMA 3.2 3B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1" name="Google Shape;441;p55"/>
          <p:cNvSpPr txBox="1"/>
          <p:nvPr/>
        </p:nvSpPr>
        <p:spPr>
          <a:xfrm>
            <a:off x="6743402" y="4173037"/>
            <a:ext cx="2091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Generates answer via Ollama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Chat 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response</a:t>
            </a: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Streamlit UI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42" name="Google Shape;442;p55"/>
          <p:cNvSpPr/>
          <p:nvPr/>
        </p:nvSpPr>
        <p:spPr>
          <a:xfrm>
            <a:off x="3948000" y="3656100"/>
            <a:ext cx="954000" cy="3879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56"/>
          <p:cNvSpPr txBox="1"/>
          <p:nvPr>
            <p:ph type="title"/>
          </p:nvPr>
        </p:nvSpPr>
        <p:spPr>
          <a:xfrm>
            <a:off x="276075" y="457200"/>
            <a:ext cx="50001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Structure &amp; Roles</a:t>
            </a:r>
            <a:endParaRPr/>
          </a:p>
        </p:txBody>
      </p:sp>
      <p:cxnSp>
        <p:nvCxnSpPr>
          <p:cNvPr id="448" name="Google Shape;448;p56"/>
          <p:cNvCxnSpPr/>
          <p:nvPr/>
        </p:nvCxnSpPr>
        <p:spPr>
          <a:xfrm rot="10800000">
            <a:off x="285000" y="4607525"/>
            <a:ext cx="85740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56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0" name="Google Shape;450;p56"/>
          <p:cNvSpPr txBox="1"/>
          <p:nvPr>
            <p:ph idx="14" type="subTitle"/>
          </p:nvPr>
        </p:nvSpPr>
        <p:spPr>
          <a:xfrm>
            <a:off x="285000" y="1268028"/>
            <a:ext cx="1912500" cy="387900"/>
          </a:xfrm>
          <a:prstGeom prst="rect">
            <a:avLst/>
          </a:prstGeom>
        </p:spPr>
        <p:txBody>
          <a:bodyPr anchorCtr="0" anchor="ctr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Lato"/>
                <a:ea typeface="Lato"/>
                <a:cs typeface="Lato"/>
                <a:sym typeface="Lato"/>
              </a:rPr>
              <a:t>HD</a:t>
            </a:r>
            <a:endParaRPr b="1"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51" name="Google Shape;451;p56"/>
          <p:cNvSpPr txBox="1"/>
          <p:nvPr>
            <p:ph idx="3" type="subTitle"/>
          </p:nvPr>
        </p:nvSpPr>
        <p:spPr>
          <a:xfrm>
            <a:off x="229603" y="1787696"/>
            <a:ext cx="1970100" cy="1140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Hector Daniel Chavez Orozco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Backend Developer &amp; Team Leader</a:t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52" name="Google Shape;452;p56"/>
          <p:cNvSpPr txBox="1"/>
          <p:nvPr>
            <p:ph idx="4" type="subTitle"/>
          </p:nvPr>
        </p:nvSpPr>
        <p:spPr>
          <a:xfrm>
            <a:off x="2440015" y="1787696"/>
            <a:ext cx="1970100" cy="9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Faisal Khan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Mohammad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Frontend Developer</a:t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53" name="Google Shape;453;p56"/>
          <p:cNvSpPr txBox="1"/>
          <p:nvPr>
            <p:ph idx="5" type="subTitle"/>
          </p:nvPr>
        </p:nvSpPr>
        <p:spPr>
          <a:xfrm>
            <a:off x="4645213" y="1787696"/>
            <a:ext cx="1970100" cy="9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Paulina Casillas Arroyo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Technical Writer</a:t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54" name="Google Shape;454;p56"/>
          <p:cNvSpPr txBox="1"/>
          <p:nvPr>
            <p:ph idx="6" type="subTitle"/>
          </p:nvPr>
        </p:nvSpPr>
        <p:spPr>
          <a:xfrm>
            <a:off x="6850410" y="1787696"/>
            <a:ext cx="1970100" cy="92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Aswathy Sreekala Soman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Playfair Display"/>
                <a:ea typeface="Playfair Display"/>
                <a:cs typeface="Playfair Display"/>
                <a:sym typeface="Playfair Display"/>
              </a:rPr>
              <a:t>Technical Writer</a:t>
            </a:r>
            <a:endParaRPr b="1" sz="1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455" name="Google Shape;455;p56"/>
          <p:cNvSpPr txBox="1"/>
          <p:nvPr>
            <p:ph idx="7" type="body"/>
          </p:nvPr>
        </p:nvSpPr>
        <p:spPr>
          <a:xfrm>
            <a:off x="227300" y="3013971"/>
            <a:ext cx="1970100" cy="6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RAG pipeline architecture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LLM integration (Ollama)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Sprint coordination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Client communication</a:t>
            </a:r>
            <a:endParaRPr/>
          </a:p>
        </p:txBody>
      </p:sp>
      <p:sp>
        <p:nvSpPr>
          <p:cNvPr id="456" name="Google Shape;456;p56"/>
          <p:cNvSpPr txBox="1"/>
          <p:nvPr>
            <p:ph idx="8" type="body"/>
          </p:nvPr>
        </p:nvSpPr>
        <p:spPr>
          <a:xfrm>
            <a:off x="2442290" y="3013971"/>
            <a:ext cx="1970100" cy="684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Streamlit dashboard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UI/UX design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Frontend-backend integration</a:t>
            </a:r>
            <a:endParaRPr/>
          </a:p>
        </p:txBody>
      </p:sp>
      <p:sp>
        <p:nvSpPr>
          <p:cNvPr id="457" name="Google Shape;457;p56"/>
          <p:cNvSpPr txBox="1"/>
          <p:nvPr>
            <p:ph idx="9" type="body"/>
          </p:nvPr>
        </p:nvSpPr>
        <p:spPr>
          <a:xfrm>
            <a:off x="4657280" y="3013971"/>
            <a:ext cx="1970100" cy="10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Initial and final project reports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Meeting minutes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Risk register tracking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Testing documentation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Reporting</a:t>
            </a:r>
            <a:endParaRPr/>
          </a:p>
        </p:txBody>
      </p:sp>
      <p:sp>
        <p:nvSpPr>
          <p:cNvPr id="458" name="Google Shape;458;p56"/>
          <p:cNvSpPr txBox="1"/>
          <p:nvPr>
            <p:ph idx="13" type="body"/>
          </p:nvPr>
        </p:nvSpPr>
        <p:spPr>
          <a:xfrm>
            <a:off x="6852685" y="3013971"/>
            <a:ext cx="1970100" cy="10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Initial and final project reports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Meeting minutes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Risk register tracking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Testing documentation</a:t>
            </a:r>
            <a:endParaRPr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Reporting</a:t>
            </a:r>
            <a:endParaRPr/>
          </a:p>
        </p:txBody>
      </p:sp>
      <p:sp>
        <p:nvSpPr>
          <p:cNvPr id="459" name="Google Shape;459;p56"/>
          <p:cNvSpPr txBox="1"/>
          <p:nvPr>
            <p:ph idx="14" type="subTitle"/>
          </p:nvPr>
        </p:nvSpPr>
        <p:spPr>
          <a:xfrm>
            <a:off x="2471100" y="1268028"/>
            <a:ext cx="1912500" cy="387900"/>
          </a:xfrm>
          <a:prstGeom prst="rect">
            <a:avLst/>
          </a:prstGeom>
        </p:spPr>
        <p:txBody>
          <a:bodyPr anchorCtr="0" anchor="ctr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Lato"/>
                <a:ea typeface="Lato"/>
                <a:cs typeface="Lato"/>
                <a:sym typeface="Lato"/>
              </a:rPr>
              <a:t>FK</a:t>
            </a:r>
            <a:endParaRPr b="1"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0" name="Google Shape;460;p56"/>
          <p:cNvSpPr txBox="1"/>
          <p:nvPr>
            <p:ph idx="14" type="subTitle"/>
          </p:nvPr>
        </p:nvSpPr>
        <p:spPr>
          <a:xfrm>
            <a:off x="4686075" y="1268028"/>
            <a:ext cx="1912500" cy="387900"/>
          </a:xfrm>
          <a:prstGeom prst="rect">
            <a:avLst/>
          </a:prstGeom>
        </p:spPr>
        <p:txBody>
          <a:bodyPr anchorCtr="0" anchor="ctr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Lato"/>
                <a:ea typeface="Lato"/>
                <a:cs typeface="Lato"/>
                <a:sym typeface="Lato"/>
              </a:rPr>
              <a:t>PC</a:t>
            </a:r>
            <a:endParaRPr b="1"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1" name="Google Shape;461;p56"/>
          <p:cNvSpPr txBox="1"/>
          <p:nvPr>
            <p:ph idx="14" type="subTitle"/>
          </p:nvPr>
        </p:nvSpPr>
        <p:spPr>
          <a:xfrm>
            <a:off x="6879200" y="1268028"/>
            <a:ext cx="1912500" cy="387900"/>
          </a:xfrm>
          <a:prstGeom prst="rect">
            <a:avLst/>
          </a:prstGeom>
        </p:spPr>
        <p:txBody>
          <a:bodyPr anchorCtr="0" anchor="ctr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Lato"/>
                <a:ea typeface="Lato"/>
                <a:cs typeface="Lato"/>
                <a:sym typeface="Lato"/>
              </a:rPr>
              <a:t>AS</a:t>
            </a:r>
            <a:endParaRPr b="1" sz="2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2" name="Google Shape;462;p56"/>
          <p:cNvSpPr/>
          <p:nvPr/>
        </p:nvSpPr>
        <p:spPr>
          <a:xfrm>
            <a:off x="258000" y="1290000"/>
            <a:ext cx="1970100" cy="1038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457A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3" name="Google Shape;463;p56"/>
          <p:cNvSpPr/>
          <p:nvPr/>
        </p:nvSpPr>
        <p:spPr>
          <a:xfrm>
            <a:off x="2451600" y="1282050"/>
            <a:ext cx="1970100" cy="1038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897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4" name="Google Shape;464;p56"/>
          <p:cNvSpPr/>
          <p:nvPr/>
        </p:nvSpPr>
        <p:spPr>
          <a:xfrm>
            <a:off x="4645213" y="1282050"/>
            <a:ext cx="1970100" cy="1038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5" name="Google Shape;465;p56"/>
          <p:cNvSpPr/>
          <p:nvPr/>
        </p:nvSpPr>
        <p:spPr>
          <a:xfrm>
            <a:off x="6850425" y="1290000"/>
            <a:ext cx="1970100" cy="10389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C27B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57"/>
          <p:cNvSpPr txBox="1"/>
          <p:nvPr>
            <p:ph type="title"/>
          </p:nvPr>
        </p:nvSpPr>
        <p:spPr>
          <a:xfrm>
            <a:off x="276075" y="457200"/>
            <a:ext cx="85944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Scrum-lite</a:t>
            </a:r>
            <a:endParaRPr/>
          </a:p>
        </p:txBody>
      </p:sp>
      <p:sp>
        <p:nvSpPr>
          <p:cNvPr id="471" name="Google Shape;471;p57"/>
          <p:cNvSpPr txBox="1"/>
          <p:nvPr/>
        </p:nvSpPr>
        <p:spPr>
          <a:xfrm>
            <a:off x="1111914" y="2359800"/>
            <a:ext cx="2358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Initiate &amp; Plan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(09 Mar - 23 Mar, 2 weeks)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2" name="Google Shape;472;p57"/>
          <p:cNvCxnSpPr/>
          <p:nvPr/>
        </p:nvCxnSpPr>
        <p:spPr>
          <a:xfrm>
            <a:off x="3334649" y="2503800"/>
            <a:ext cx="1512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3" name="Google Shape;473;p57"/>
          <p:cNvSpPr txBox="1"/>
          <p:nvPr/>
        </p:nvSpPr>
        <p:spPr>
          <a:xfrm>
            <a:off x="5284569" y="2359800"/>
            <a:ext cx="274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Requirements gathering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System architecture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Project Plan deliverable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4" name="Google Shape;474;p57"/>
          <p:cNvSpPr txBox="1"/>
          <p:nvPr/>
        </p:nvSpPr>
        <p:spPr>
          <a:xfrm>
            <a:off x="1111275" y="1916525"/>
            <a:ext cx="2337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Description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475" name="Google Shape;475;p57"/>
          <p:cNvSpPr txBox="1"/>
          <p:nvPr/>
        </p:nvSpPr>
        <p:spPr>
          <a:xfrm>
            <a:off x="5284575" y="1916525"/>
            <a:ext cx="2338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Tasks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476" name="Google Shape;476;p57"/>
          <p:cNvSpPr txBox="1"/>
          <p:nvPr/>
        </p:nvSpPr>
        <p:spPr>
          <a:xfrm>
            <a:off x="1111275" y="3247975"/>
            <a:ext cx="2358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Execute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(23 Mar - 20 Apr, 4 weeks)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77" name="Google Shape;477;p57"/>
          <p:cNvCxnSpPr/>
          <p:nvPr/>
        </p:nvCxnSpPr>
        <p:spPr>
          <a:xfrm>
            <a:off x="3334650" y="3355675"/>
            <a:ext cx="1512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8" name="Google Shape;478;p57"/>
          <p:cNvSpPr txBox="1"/>
          <p:nvPr/>
        </p:nvSpPr>
        <p:spPr>
          <a:xfrm>
            <a:off x="5283825" y="3247975"/>
            <a:ext cx="274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Backend pipeline &amp; LLM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Frontend (Streamlit)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Model Substitution handled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79" name="Google Shape;479;p57"/>
          <p:cNvSpPr txBox="1"/>
          <p:nvPr/>
        </p:nvSpPr>
        <p:spPr>
          <a:xfrm>
            <a:off x="1111914" y="4136150"/>
            <a:ext cx="2358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Monitor, Control and Close 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(20 Apr - 08 May, 2 weeks)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480" name="Google Shape;480;p57"/>
          <p:cNvCxnSpPr/>
          <p:nvPr/>
        </p:nvCxnSpPr>
        <p:spPr>
          <a:xfrm>
            <a:off x="3334649" y="4243850"/>
            <a:ext cx="15123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1" name="Google Shape;481;p57"/>
          <p:cNvSpPr txBox="1"/>
          <p:nvPr/>
        </p:nvSpPr>
        <p:spPr>
          <a:xfrm>
            <a:off x="5284569" y="4136150"/>
            <a:ext cx="2746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Integration testing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All documentation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Lato"/>
              <a:buChar char="●"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Client handover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82" name="Google Shape;482;p57"/>
          <p:cNvSpPr txBox="1"/>
          <p:nvPr/>
        </p:nvSpPr>
        <p:spPr>
          <a:xfrm>
            <a:off x="283950" y="2359800"/>
            <a:ext cx="65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01</a:t>
            </a:r>
            <a:endParaRPr sz="40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483" name="Google Shape;483;p57"/>
          <p:cNvSpPr txBox="1"/>
          <p:nvPr/>
        </p:nvSpPr>
        <p:spPr>
          <a:xfrm>
            <a:off x="283950" y="3247975"/>
            <a:ext cx="65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02</a:t>
            </a:r>
            <a:endParaRPr sz="40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484" name="Google Shape;484;p57"/>
          <p:cNvSpPr txBox="1"/>
          <p:nvPr/>
        </p:nvSpPr>
        <p:spPr>
          <a:xfrm>
            <a:off x="283950" y="4136150"/>
            <a:ext cx="659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03</a:t>
            </a:r>
            <a:endParaRPr sz="4000"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485" name="Google Shape;485;p57"/>
          <p:cNvSpPr txBox="1"/>
          <p:nvPr>
            <p:ph idx="12" type="sldNum"/>
          </p:nvPr>
        </p:nvSpPr>
        <p:spPr>
          <a:xfrm>
            <a:off x="8656458" y="4815950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6" name="Google Shape;486;p57"/>
          <p:cNvSpPr txBox="1"/>
          <p:nvPr/>
        </p:nvSpPr>
        <p:spPr>
          <a:xfrm>
            <a:off x="198000" y="1916525"/>
            <a:ext cx="83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Sprint</a:t>
            </a:r>
            <a:endParaRPr>
              <a:solidFill>
                <a:schemeClr val="lt1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487" name="Google Shape;487;p57"/>
          <p:cNvSpPr txBox="1"/>
          <p:nvPr/>
        </p:nvSpPr>
        <p:spPr>
          <a:xfrm>
            <a:off x="283967" y="1054200"/>
            <a:ext cx="57969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Scrum-lite: Agile’s core principles (transparency, inspection, adaption) without rigid ceremonies - ideal for a smal, multi-role team with an 8-week time line</a:t>
            </a:r>
            <a:endParaRPr sz="1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8"/>
          <p:cNvSpPr txBox="1"/>
          <p:nvPr>
            <p:ph type="title"/>
          </p:nvPr>
        </p:nvSpPr>
        <p:spPr>
          <a:xfrm>
            <a:off x="276075" y="457200"/>
            <a:ext cx="5713200" cy="38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Analysis</a:t>
            </a:r>
            <a:endParaRPr/>
          </a:p>
        </p:txBody>
      </p:sp>
      <p:sp>
        <p:nvSpPr>
          <p:cNvPr id="493" name="Google Shape;493;p58"/>
          <p:cNvSpPr/>
          <p:nvPr/>
        </p:nvSpPr>
        <p:spPr>
          <a:xfrm>
            <a:off x="444000" y="1241425"/>
            <a:ext cx="2359500" cy="9156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905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Software Cost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0F2D52"/>
                </a:solidFill>
                <a:latin typeface="Lato"/>
                <a:ea typeface="Lato"/>
                <a:cs typeface="Lato"/>
                <a:sym typeface="Lato"/>
              </a:rPr>
              <a:t>$0</a:t>
            </a:r>
            <a:endParaRPr b="1" sz="3700">
              <a:solidFill>
                <a:srgbClr val="0F2D5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4" name="Google Shape;494;p58"/>
          <p:cNvSpPr/>
          <p:nvPr/>
        </p:nvSpPr>
        <p:spPr>
          <a:xfrm>
            <a:off x="3340650" y="1241425"/>
            <a:ext cx="2428500" cy="9156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905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Total hours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0F2D52"/>
                </a:solidFill>
                <a:latin typeface="Lato"/>
                <a:ea typeface="Lato"/>
                <a:cs typeface="Lato"/>
                <a:sym typeface="Lato"/>
              </a:rPr>
              <a:t>342</a:t>
            </a:r>
            <a:endParaRPr b="1" sz="3700">
              <a:solidFill>
                <a:srgbClr val="0F2D5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95" name="Google Shape;495;p58"/>
          <p:cNvSpPr/>
          <p:nvPr/>
        </p:nvSpPr>
        <p:spPr>
          <a:xfrm>
            <a:off x="6175350" y="1233475"/>
            <a:ext cx="2177100" cy="9156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9050">
            <a:solidFill>
              <a:srgbClr val="0F2D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Total labour cost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0F2D52"/>
                </a:solidFill>
                <a:latin typeface="Lato"/>
                <a:ea typeface="Lato"/>
                <a:cs typeface="Lato"/>
                <a:sym typeface="Lato"/>
              </a:rPr>
              <a:t>$25,925</a:t>
            </a:r>
            <a:r>
              <a:rPr lang="en" sz="3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3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496" name="Google Shape;496;p58"/>
          <p:cNvGraphicFramePr/>
          <p:nvPr/>
        </p:nvGraphicFramePr>
        <p:xfrm>
          <a:off x="1566650" y="24642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{03A841FE-AAB1-41F5-979B-3A4A0C8F7844}</a:tableStyleId>
              </a:tblPr>
              <a:tblGrid>
                <a:gridCol w="2831575"/>
                <a:gridCol w="2831575"/>
              </a:tblGrid>
              <a:tr h="31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Role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F2D5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Cost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0F2D52"/>
                    </a:solidFill>
                  </a:tcPr>
                </a:tc>
              </a:tr>
              <a:tr h="28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Project Lead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$1,350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Backend Developer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$7,225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1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Frontend Developer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$6,150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85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Technical Writer x2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$11,200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13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Total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$25,925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97" name="Google Shape;497;p58"/>
          <p:cNvSpPr txBox="1"/>
          <p:nvPr>
            <p:ph idx="12" type="sldNum"/>
          </p:nvPr>
        </p:nvSpPr>
        <p:spPr>
          <a:xfrm>
            <a:off x="8637325" y="4820825"/>
            <a:ext cx="336000" cy="183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latin typeface="Lato"/>
                <a:ea typeface="Lato"/>
                <a:cs typeface="Lato"/>
                <a:sym typeface="Lato"/>
              </a:rPr>
              <a:t>‹#›</a:t>
            </a:fld>
            <a:endParaRPr sz="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6FA8DC"/>
        </a:solidFill>
      </p:bgPr>
    </p:bg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9"/>
          <p:cNvSpPr txBox="1"/>
          <p:nvPr>
            <p:ph type="title"/>
          </p:nvPr>
        </p:nvSpPr>
        <p:spPr>
          <a:xfrm>
            <a:off x="276075" y="457200"/>
            <a:ext cx="3512400" cy="1800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500"/>
              <a:t>LIVE DEMO</a:t>
            </a:r>
            <a:endParaRPr b="1" sz="6500"/>
          </a:p>
        </p:txBody>
      </p:sp>
      <p:sp>
        <p:nvSpPr>
          <p:cNvPr id="503" name="Google Shape;503;p59"/>
          <p:cNvSpPr txBox="1"/>
          <p:nvPr/>
        </p:nvSpPr>
        <p:spPr>
          <a:xfrm>
            <a:off x="4163775" y="416900"/>
            <a:ext cx="4580700" cy="39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Demo Script</a:t>
            </a:r>
            <a:endParaRPr b="1"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AutoNum type="arabicPeriod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Launch INSIGHT.AI (batch file -&gt; Streamlit)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AutoNum type="arabicPeriod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Index a folder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AutoNum type="arabicPeriod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Query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AutoNum type="arabicPeriod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Analyse the response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ato"/>
              <a:buAutoNum type="arabicPeriod"/>
            </a:pPr>
            <a:r>
              <a:rPr lang="en" sz="16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Switch to a second index</a:t>
            </a:r>
            <a:endParaRPr sz="16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Project Findings &amp; Outcomes</a:t>
            </a:r>
            <a:endParaRPr/>
          </a:p>
        </p:txBody>
      </p:sp>
      <p:sp>
        <p:nvSpPr>
          <p:cNvPr id="509" name="Google Shape;509;p60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⚠ Known Limitations</a:t>
            </a:r>
            <a:endParaRPr/>
          </a:p>
        </p:txBody>
      </p:sp>
      <p:sp>
        <p:nvSpPr>
          <p:cNvPr id="510" name="Google Shape;510;p60"/>
          <p:cNvSpPr txBox="1"/>
          <p:nvPr>
            <p:ph idx="1" type="body"/>
          </p:nvPr>
        </p:nvSpPr>
        <p:spPr>
          <a:xfrm>
            <a:off x="483150" y="2006878"/>
            <a:ext cx="3619800" cy="29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✓"/>
            </a:pPr>
            <a:r>
              <a:rPr lang="en"/>
              <a:t>All core client requirements met</a:t>
            </a:r>
            <a:endParaRPr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✓"/>
            </a:pPr>
            <a:r>
              <a:rPr lang="en"/>
              <a:t>Full local operation - zero data leakage confirmed</a:t>
            </a:r>
            <a:endParaRPr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✓"/>
            </a:pPr>
            <a:r>
              <a:rPr lang="en"/>
              <a:t>PDF, Word &amp; Excel file support</a:t>
            </a:r>
            <a:endParaRPr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✓"/>
            </a:pPr>
            <a:r>
              <a:rPr lang="en"/>
              <a:t>Multi-index management</a:t>
            </a:r>
            <a:endParaRPr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✓"/>
            </a:pPr>
            <a:r>
              <a:rPr lang="en"/>
              <a:t>Natural language querying</a:t>
            </a:r>
            <a:endParaRPr/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✓"/>
            </a:pPr>
            <a:r>
              <a:rPr lang="en"/>
              <a:t>Reliable performance on standard laptops and no hallucination</a:t>
            </a:r>
            <a:endParaRPr/>
          </a:p>
        </p:txBody>
      </p:sp>
      <p:sp>
        <p:nvSpPr>
          <p:cNvPr id="511" name="Google Shape;511;p60"/>
          <p:cNvSpPr txBox="1"/>
          <p:nvPr>
            <p:ph idx="2" type="body"/>
          </p:nvPr>
        </p:nvSpPr>
        <p:spPr>
          <a:xfrm>
            <a:off x="5048000" y="2006878"/>
            <a:ext cx="3619800" cy="29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⚠"/>
            </a:pPr>
            <a:r>
              <a:rPr lang="en"/>
              <a:t>Scanned PDF’s not supported</a:t>
            </a:r>
            <a:endParaRPr/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⚠"/>
            </a:pPr>
            <a:r>
              <a:rPr lang="en"/>
              <a:t>Legacy .xls (Excel 97-2003 format) unsupported</a:t>
            </a:r>
            <a:endParaRPr/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⚠"/>
            </a:pPr>
            <a:r>
              <a:rPr lang="en"/>
              <a:t>Document version comparison is limited</a:t>
            </a:r>
            <a:endParaRPr/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⚠"/>
            </a:pPr>
            <a:r>
              <a:rPr lang="en"/>
              <a:t>Model Llama 3.2 3B has limited mathematical reasoning capability</a:t>
            </a:r>
            <a:endParaRPr/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⚠"/>
            </a:pPr>
            <a:r>
              <a:rPr lang="en"/>
              <a:t>Excel files with merged cells or multiple tables per sheet may produce inaccurate extractions</a:t>
            </a:r>
            <a:endParaRPr/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SzPts val="1200"/>
              <a:buChar char="⚠"/>
            </a:pPr>
            <a:r>
              <a:rPr lang="en"/>
              <a:t>Querying across multiple indexes simultaneously is not supported</a:t>
            </a:r>
            <a:endParaRPr/>
          </a:p>
        </p:txBody>
      </p:sp>
      <p:sp>
        <p:nvSpPr>
          <p:cNvPr id="512" name="Google Shape;512;p60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r>
              <a:rPr lang="en"/>
              <a:t>✔ </a:t>
            </a:r>
            <a:r>
              <a:rPr lang="en"/>
              <a:t>What was delivered</a:t>
            </a:r>
            <a:endParaRPr/>
          </a:p>
        </p:txBody>
      </p:sp>
      <p:sp>
        <p:nvSpPr>
          <p:cNvPr id="513" name="Google Shape;513;p60"/>
          <p:cNvSpPr/>
          <p:nvPr/>
        </p:nvSpPr>
        <p:spPr>
          <a:xfrm>
            <a:off x="477000" y="1208125"/>
            <a:ext cx="3705600" cy="367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14" name="Google Shape;514;p60"/>
          <p:cNvSpPr/>
          <p:nvPr/>
        </p:nvSpPr>
        <p:spPr>
          <a:xfrm>
            <a:off x="5005100" y="1208125"/>
            <a:ext cx="3705600" cy="3672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CDDEE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Recommendations &amp; Investment Case</a:t>
            </a:r>
            <a:endParaRPr/>
          </a:p>
        </p:txBody>
      </p:sp>
      <p:sp>
        <p:nvSpPr>
          <p:cNvPr id="520" name="Google Shape;520;p61"/>
          <p:cNvSpPr txBox="1"/>
          <p:nvPr>
            <p:ph idx="4" type="subTitle"/>
          </p:nvPr>
        </p:nvSpPr>
        <p:spPr>
          <a:xfrm>
            <a:off x="5048000" y="1530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invest further?</a:t>
            </a:r>
            <a:endParaRPr/>
          </a:p>
        </p:txBody>
      </p:sp>
      <p:sp>
        <p:nvSpPr>
          <p:cNvPr id="521" name="Google Shape;521;p6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FastAPI + React frontend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Upgrade to a larger language model (7B-8B params)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Pymupdf4llm document parsing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ChromaDB / </a:t>
            </a:r>
            <a:r>
              <a:rPr lang="en"/>
              <a:t>Quadrant</a:t>
            </a:r>
            <a:r>
              <a:rPr lang="en"/>
              <a:t> vector store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Automatic change detection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Multi-index querying</a:t>
            </a:r>
            <a:endParaRPr/>
          </a:p>
        </p:txBody>
      </p:sp>
      <p:sp>
        <p:nvSpPr>
          <p:cNvPr id="522" name="Google Shape;522;p6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Proven prototype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Zero ongoing cost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Privacy-first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Scalable foundation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Immediate value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vendor dependency</a:t>
            </a:r>
            <a:endParaRPr/>
          </a:p>
        </p:txBody>
      </p:sp>
      <p:sp>
        <p:nvSpPr>
          <p:cNvPr id="523" name="Google Shape;523;p61"/>
          <p:cNvSpPr txBox="1"/>
          <p:nvPr>
            <p:ph idx="3" type="subTitle"/>
          </p:nvPr>
        </p:nvSpPr>
        <p:spPr>
          <a:xfrm>
            <a:off x="483150" y="1530161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Improvements</a:t>
            </a:r>
            <a:endParaRPr/>
          </a:p>
        </p:txBody>
      </p:sp>
      <p:cxnSp>
        <p:nvCxnSpPr>
          <p:cNvPr id="524" name="Google Shape;524;p61"/>
          <p:cNvCxnSpPr/>
          <p:nvPr/>
        </p:nvCxnSpPr>
        <p:spPr>
          <a:xfrm flipH="1" rot="10800000">
            <a:off x="460875" y="2594825"/>
            <a:ext cx="7217400" cy="13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61"/>
          <p:cNvCxnSpPr/>
          <p:nvPr/>
        </p:nvCxnSpPr>
        <p:spPr>
          <a:xfrm flipH="1" rot="10800000">
            <a:off x="483175" y="3037575"/>
            <a:ext cx="7217400" cy="13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61"/>
          <p:cNvCxnSpPr/>
          <p:nvPr/>
        </p:nvCxnSpPr>
        <p:spPr>
          <a:xfrm flipH="1" rot="10800000">
            <a:off x="483175" y="3417700"/>
            <a:ext cx="7217400" cy="13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61"/>
          <p:cNvCxnSpPr/>
          <p:nvPr/>
        </p:nvCxnSpPr>
        <p:spPr>
          <a:xfrm flipH="1" rot="10800000">
            <a:off x="483175" y="3867800"/>
            <a:ext cx="7217400" cy="13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61"/>
          <p:cNvCxnSpPr/>
          <p:nvPr/>
        </p:nvCxnSpPr>
        <p:spPr>
          <a:xfrm flipH="1" rot="10800000">
            <a:off x="483175" y="4317900"/>
            <a:ext cx="7217400" cy="138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6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Credit &amp; Contributions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graphicFrame>
        <p:nvGraphicFramePr>
          <p:cNvPr id="534" name="Google Shape;534;p62"/>
          <p:cNvGraphicFramePr/>
          <p:nvPr/>
        </p:nvGraphicFramePr>
        <p:xfrm>
          <a:off x="952500" y="192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{03A841FE-AAB1-41F5-979B-3A4A0C8F7844}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Team Member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A5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Student ID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A5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Role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A5D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Lato"/>
                          <a:ea typeface="Lato"/>
                          <a:cs typeface="Lato"/>
                          <a:sym typeface="Lato"/>
                        </a:rPr>
                        <a:t>Contribution</a:t>
                      </a:r>
                      <a:endParaRPr b="1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>
                    <a:solidFill>
                      <a:srgbClr val="A5D6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Hector Daniel Chavez Orozco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u1168447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Backend Dev / Lead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25%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Faisal Khan Mohammad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u1164395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Frontend Developer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25%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Paulina Casillas Arroyo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u1168446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Technical Writer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25%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Aswathy Sreekala Soman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u1169763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Technical Writer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ato"/>
                          <a:ea typeface="Lato"/>
                          <a:cs typeface="Lato"/>
                          <a:sym typeface="Lato"/>
                        </a:rPr>
                        <a:t>25%</a:t>
                      </a:r>
                      <a:endParaRPr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35" name="Google Shape;535;p62"/>
          <p:cNvSpPr txBox="1"/>
          <p:nvPr>
            <p:ph idx="3" type="subTitle"/>
          </p:nvPr>
        </p:nvSpPr>
        <p:spPr>
          <a:xfrm>
            <a:off x="483175" y="1293023"/>
            <a:ext cx="3619800" cy="542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layfair Display"/>
                <a:ea typeface="Playfair Display"/>
                <a:cs typeface="Playfair Display"/>
                <a:sym typeface="Playfair Display"/>
              </a:rPr>
              <a:t>PDF Agents - Assignment 2</a:t>
            </a:r>
            <a:endParaRPr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Kickoff Presentation">
  <a:themeElements>
    <a:clrScheme name="Simple Light">
      <a:dk1>
        <a:srgbClr val="FBFBFB"/>
      </a:dk1>
      <a:lt1>
        <a:srgbClr val="1C2026"/>
      </a:lt1>
      <a:dk2>
        <a:srgbClr val="F5F5F5"/>
      </a:dk2>
      <a:lt2>
        <a:srgbClr val="1C2026"/>
      </a:lt2>
      <a:accent1>
        <a:srgbClr val="E9E9E9"/>
      </a:accent1>
      <a:accent2>
        <a:srgbClr val="7A7A7A"/>
      </a:accent2>
      <a:accent3>
        <a:srgbClr val="C2C2C2"/>
      </a:accent3>
      <a:accent4>
        <a:srgbClr val="434343"/>
      </a:accent4>
      <a:accent5>
        <a:srgbClr val="666666"/>
      </a:accent5>
      <a:accent6>
        <a:srgbClr val="999999"/>
      </a:accent6>
      <a:hlink>
        <a:srgbClr val="B7B7B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